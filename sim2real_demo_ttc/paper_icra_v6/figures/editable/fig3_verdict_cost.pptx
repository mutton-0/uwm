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2736850" cy="14525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36800" y="-490320"/>
            <a:ext cx="24631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36800" y="116640"/>
            <a:ext cx="2463120" cy="91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2737800" cy="1453680"/>
          </a:xfrm>
          <a:custGeom>
            <a:avLst/>
            <a:gdLst/>
            <a:ahLst/>
            <a:rect l="0" t="0" r="r" b="b"/>
            <a:pathLst>
              <a:path w="7605" h="4038">
                <a:moveTo>
                  <a:pt x="0" y="4038"/>
                </a:moveTo>
                <a:lnTo>
                  <a:pt x="7605" y="4038"/>
                </a:lnTo>
                <a:lnTo>
                  <a:pt x="7605" y="0"/>
                </a:lnTo>
                <a:lnTo>
                  <a:pt x="0" y="0"/>
                </a:lnTo>
                <a:lnTo>
                  <a:pt x="0" y="403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279000" y="146520"/>
            <a:ext cx="1054080" cy="986040"/>
          </a:xfrm>
          <a:custGeom>
            <a:avLst/>
            <a:gdLst/>
            <a:ahLst/>
            <a:rect l="0" t="0" r="r" b="b"/>
            <a:pathLst>
              <a:path w="2928" h="2739">
                <a:moveTo>
                  <a:pt x="0" y="2739"/>
                </a:moveTo>
                <a:lnTo>
                  <a:pt x="2928" y="2739"/>
                </a:lnTo>
                <a:lnTo>
                  <a:pt x="2928" y="0"/>
                </a:lnTo>
                <a:lnTo>
                  <a:pt x="0" y="0"/>
                </a:lnTo>
                <a:lnTo>
                  <a:pt x="0" y="27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388440" y="1132200"/>
            <a:ext cx="0" cy="19080"/>
          </a:xfrm>
          <a:custGeom>
            <a:avLst/>
            <a:gdLst/>
            <a:ahLst/>
            <a:rect l="0" t="0" r="r" b="b"/>
            <a:pathLst>
              <a:path w="0" h="53">
                <a:moveTo>
                  <a:pt x="0" y="0"/>
                </a:move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388440" y="1132200"/>
            <a:ext cx="0" cy="1908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760680" y="1132200"/>
            <a:ext cx="0" cy="19080"/>
          </a:xfrm>
          <a:custGeom>
            <a:avLst/>
            <a:gdLst/>
            <a:ahLst/>
            <a:rect l="0" t="0" r="r" b="b"/>
            <a:pathLst>
              <a:path w="0" h="53">
                <a:moveTo>
                  <a:pt x="0" y="0"/>
                </a:move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760680" y="1132200"/>
            <a:ext cx="0" cy="1908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69000" y="1169280"/>
            <a:ext cx="784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168920" y="1132200"/>
            <a:ext cx="0" cy="19080"/>
          </a:xfrm>
          <a:custGeom>
            <a:avLst/>
            <a:gdLst/>
            <a:ahLst/>
            <a:rect l="0" t="0" r="r" b="b"/>
            <a:pathLst>
              <a:path w="0" h="53">
                <a:moveTo>
                  <a:pt x="0" y="0"/>
                </a:move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168920" y="1132200"/>
            <a:ext cx="0" cy="1908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41240" y="1169280"/>
            <a:ext cx="784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3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29680" y="1169280"/>
            <a:ext cx="799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59920" y="10314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53" y="0"/>
                </a:moveTo>
                <a:lnTo>
                  <a:pt x="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 flipH="1">
            <a:off x="259920" y="1031400"/>
            <a:ext cx="1908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492120" y="1248480"/>
            <a:ext cx="630000" cy="8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70" spc="-1" strike="noStrike">
                <a:solidFill>
                  <a:srgbClr val="000000"/>
                </a:solidFill>
                <a:latin typeface="NimbusRoman"/>
                <a:ea typeface="NimbusRoman"/>
              </a:rPr>
              <a:t>minutes of driving</a:t>
            </a:r>
            <a:endParaRPr b="0" lang="en-US" sz="6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07640" y="1001520"/>
            <a:ext cx="799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88280" y="1016280"/>
            <a:ext cx="28080" cy="3960"/>
          </a:xfrm>
          <a:custGeom>
            <a:avLst/>
            <a:gdLst/>
            <a:ahLst/>
            <a:rect l="0" t="0" r="r" b="b"/>
            <a:pathLst>
              <a:path w="78" h="11">
                <a:moveTo>
                  <a:pt x="78" y="11"/>
                </a:moveTo>
                <a:lnTo>
                  <a:pt x="78" y="0"/>
                </a:lnTo>
                <a:lnTo>
                  <a:pt x="0" y="0"/>
                </a:lnTo>
                <a:lnTo>
                  <a:pt x="0" y="11"/>
                </a:lnTo>
                <a:lnTo>
                  <a:pt x="78" y="11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59920" y="74448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53" y="0"/>
                </a:moveTo>
                <a:lnTo>
                  <a:pt x="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259920" y="744480"/>
            <a:ext cx="1908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17800" y="994680"/>
            <a:ext cx="547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30" spc="-1" strike="noStrike">
                <a:solidFill>
                  <a:srgbClr val="52514e"/>
                </a:solidFill>
                <a:latin typeface="NimbusRoman"/>
                <a:ea typeface="NimbusRoman"/>
              </a:rPr>
              <a:t>3</a:t>
            </a:r>
            <a:endParaRPr b="0" lang="en-US" sz="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7640" y="714960"/>
            <a:ext cx="799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88280" y="729360"/>
            <a:ext cx="28080" cy="3960"/>
          </a:xfrm>
          <a:custGeom>
            <a:avLst/>
            <a:gdLst/>
            <a:ahLst/>
            <a:rect l="0" t="0" r="r" b="b"/>
            <a:pathLst>
              <a:path w="78" h="11">
                <a:moveTo>
                  <a:pt x="78" y="11"/>
                </a:moveTo>
                <a:lnTo>
                  <a:pt x="78" y="0"/>
                </a:lnTo>
                <a:lnTo>
                  <a:pt x="0" y="0"/>
                </a:lnTo>
                <a:lnTo>
                  <a:pt x="0" y="11"/>
                </a:lnTo>
                <a:lnTo>
                  <a:pt x="78" y="11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59920" y="45792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53" y="0"/>
                </a:moveTo>
                <a:lnTo>
                  <a:pt x="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259920" y="457920"/>
            <a:ext cx="1908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17800" y="707760"/>
            <a:ext cx="547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30" spc="-1" strike="noStrike">
                <a:solidFill>
                  <a:srgbClr val="52514e"/>
                </a:solidFill>
                <a:latin typeface="NimbusRoman"/>
                <a:ea typeface="NimbusRoman"/>
              </a:rPr>
              <a:t>2</a:t>
            </a:r>
            <a:endParaRPr b="0" lang="en-US" sz="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7640" y="428040"/>
            <a:ext cx="799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88280" y="442440"/>
            <a:ext cx="28080" cy="3960"/>
          </a:xfrm>
          <a:custGeom>
            <a:avLst/>
            <a:gdLst/>
            <a:ahLst/>
            <a:rect l="0" t="0" r="r" b="b"/>
            <a:pathLst>
              <a:path w="78" h="11">
                <a:moveTo>
                  <a:pt x="78" y="11"/>
                </a:moveTo>
                <a:lnTo>
                  <a:pt x="78" y="0"/>
                </a:lnTo>
                <a:lnTo>
                  <a:pt x="0" y="0"/>
                </a:lnTo>
                <a:lnTo>
                  <a:pt x="0" y="11"/>
                </a:lnTo>
                <a:lnTo>
                  <a:pt x="78" y="11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59920" y="171000"/>
            <a:ext cx="19080" cy="0"/>
          </a:xfrm>
          <a:custGeom>
            <a:avLst/>
            <a:gdLst/>
            <a:ahLst/>
            <a:rect l="0" t="0" r="r" b="b"/>
            <a:pathLst>
              <a:path w="53" h="0">
                <a:moveTo>
                  <a:pt x="53" y="0"/>
                </a:moveTo>
                <a:lnTo>
                  <a:pt x="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H="1">
            <a:off x="259920" y="171000"/>
            <a:ext cx="1908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17800" y="420840"/>
            <a:ext cx="547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30" spc="-1" strike="noStrike">
                <a:solidFill>
                  <a:srgbClr val="52514e"/>
                </a:solidFill>
                <a:latin typeface="NimbusRoman"/>
                <a:ea typeface="NimbusRoman"/>
              </a:rPr>
              <a:t>1</a:t>
            </a:r>
            <a:endParaRPr b="0" lang="en-US" sz="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32840" y="141120"/>
            <a:ext cx="799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12040" y="133920"/>
            <a:ext cx="5472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3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18600" y="4014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6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455760" y="4273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28920" y="45540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6" y="44"/>
                  <a:pt x="40" y="40"/>
                </a:cubicBezTo>
                <a:cubicBezTo>
                  <a:pt x="45" y="35"/>
                  <a:pt x="47" y="30"/>
                  <a:pt x="47" y="23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6"/>
                  <a:pt x="0" y="23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788400" y="49284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2"/>
                  <a:pt x="40" y="8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5560" y="507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063080" y="57636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5" y="44"/>
                  <a:pt x="39" y="39"/>
                </a:cubicBezTo>
                <a:cubicBezTo>
                  <a:pt x="44" y="34"/>
                  <a:pt x="47" y="29"/>
                  <a:pt x="47" y="22"/>
                </a:cubicBezTo>
                <a:cubicBezTo>
                  <a:pt x="47" y="16"/>
                  <a:pt x="44" y="11"/>
                  <a:pt x="39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2" y="11"/>
                  <a:pt x="0" y="16"/>
                  <a:pt x="0" y="22"/>
                </a:cubicBezTo>
                <a:cubicBezTo>
                  <a:pt x="0" y="29"/>
                  <a:pt x="2" y="34"/>
                  <a:pt x="7" y="39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187640" y="66420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4" y="46"/>
                </a:moveTo>
                <a:cubicBezTo>
                  <a:pt x="30" y="46"/>
                  <a:pt x="36" y="44"/>
                  <a:pt x="40" y="40"/>
                </a:cubicBezTo>
                <a:cubicBezTo>
                  <a:pt x="44" y="35"/>
                  <a:pt x="47" y="30"/>
                  <a:pt x="47" y="24"/>
                </a:cubicBezTo>
                <a:cubicBezTo>
                  <a:pt x="47" y="16"/>
                  <a:pt x="44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6"/>
                </a:cubicBezTo>
                <a:cubicBezTo>
                  <a:pt x="2" y="11"/>
                  <a:pt x="0" y="16"/>
                  <a:pt x="0" y="24"/>
                </a:cubicBezTo>
                <a:cubicBezTo>
                  <a:pt x="0" y="30"/>
                  <a:pt x="2" y="35"/>
                  <a:pt x="7" y="40"/>
                </a:cubicBezTo>
                <a:cubicBezTo>
                  <a:pt x="12" y="44"/>
                  <a:pt x="18" y="46"/>
                  <a:pt x="24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326880" y="40572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1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a3adb8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18600" y="370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6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55760" y="3938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628920" y="4359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788400" y="4590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2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925560" y="4960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063080" y="552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187640" y="6490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326880" y="37692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1"/>
                </a:lnTo>
                <a:lnTo>
                  <a:pt x="2616" y="979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a3adb8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318600" y="3837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6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455760" y="399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28920" y="444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1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4"/>
                  <a:pt x="29" y="0"/>
                  <a:pt x="23" y="0"/>
                </a:cubicBezTo>
                <a:cubicBezTo>
                  <a:pt x="17" y="0"/>
                  <a:pt x="11" y="4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788400" y="47628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2"/>
                  <a:pt x="40" y="8"/>
                </a:cubicBezTo>
                <a:cubicBezTo>
                  <a:pt x="34" y="2"/>
                  <a:pt x="29" y="0"/>
                  <a:pt x="22" y="0"/>
                </a:cubicBezTo>
                <a:cubicBezTo>
                  <a:pt x="16" y="0"/>
                  <a:pt x="11" y="2"/>
                  <a:pt x="6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925560" y="5148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063080" y="54432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5" y="44"/>
                  <a:pt x="39" y="39"/>
                </a:cubicBezTo>
                <a:cubicBezTo>
                  <a:pt x="44" y="34"/>
                  <a:pt x="47" y="29"/>
                  <a:pt x="47" y="22"/>
                </a:cubicBezTo>
                <a:cubicBezTo>
                  <a:pt x="47" y="16"/>
                  <a:pt x="44" y="11"/>
                  <a:pt x="39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2" y="11"/>
                  <a:pt x="0" y="16"/>
                  <a:pt x="0" y="22"/>
                </a:cubicBezTo>
                <a:cubicBezTo>
                  <a:pt x="0" y="29"/>
                  <a:pt x="2" y="34"/>
                  <a:pt x="7" y="39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187640" y="6145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26880" y="387000"/>
            <a:ext cx="958320" cy="492840"/>
          </a:xfrm>
          <a:custGeom>
            <a:avLst/>
            <a:gdLst/>
            <a:ahLst/>
            <a:rect l="0" t="0" r="r" b="b"/>
            <a:pathLst>
              <a:path fill="none" w="2662" h="1369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6"/>
                </a:lnTo>
                <a:lnTo>
                  <a:pt x="1717" y="384"/>
                </a:lnTo>
                <a:lnTo>
                  <a:pt x="1914" y="445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8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1"/>
                </a:lnTo>
                <a:lnTo>
                  <a:pt x="2616" y="980"/>
                </a:lnTo>
                <a:lnTo>
                  <a:pt x="2635" y="1060"/>
                </a:lnTo>
                <a:lnTo>
                  <a:pt x="2648" y="1155"/>
                </a:lnTo>
                <a:lnTo>
                  <a:pt x="2657" y="1266"/>
                </a:lnTo>
                <a:lnTo>
                  <a:pt x="2662" y="1369"/>
                </a:lnTo>
              </a:path>
            </a:pathLst>
          </a:custGeom>
          <a:ln cap="sq" w="10080">
            <a:solidFill>
              <a:srgbClr val="a3adb8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18600" y="1828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55760" y="2300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28920" y="27504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6" y="44"/>
                  <a:pt x="40" y="40"/>
                </a:cubicBezTo>
                <a:cubicBezTo>
                  <a:pt x="45" y="35"/>
                  <a:pt x="47" y="30"/>
                  <a:pt x="47" y="22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6"/>
                  <a:pt x="0" y="22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88400" y="30132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5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925560" y="32904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4" y="46"/>
                </a:moveTo>
                <a:cubicBezTo>
                  <a:pt x="30" y="46"/>
                  <a:pt x="36" y="44"/>
                  <a:pt x="40" y="40"/>
                </a:cubicBezTo>
                <a:cubicBezTo>
                  <a:pt x="45" y="35"/>
                  <a:pt x="47" y="30"/>
                  <a:pt x="47" y="23"/>
                </a:cubicBezTo>
                <a:cubicBezTo>
                  <a:pt x="47" y="17"/>
                  <a:pt x="45" y="12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2"/>
                  <a:pt x="0" y="17"/>
                  <a:pt x="0" y="23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8" y="46"/>
                  <a:pt x="24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063080" y="372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187640" y="4374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26880" y="20304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7"/>
                </a:lnTo>
                <a:lnTo>
                  <a:pt x="1717" y="384"/>
                </a:lnTo>
                <a:lnTo>
                  <a:pt x="1914" y="445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3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8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5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a3adb8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18600" y="408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455760" y="43884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4" y="46"/>
                </a:moveTo>
                <a:cubicBezTo>
                  <a:pt x="30" y="46"/>
                  <a:pt x="36" y="44"/>
                  <a:pt x="40" y="40"/>
                </a:cubicBezTo>
                <a:cubicBezTo>
                  <a:pt x="45" y="35"/>
                  <a:pt x="47" y="30"/>
                  <a:pt x="47" y="24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6"/>
                  <a:pt x="0" y="24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8" y="46"/>
                  <a:pt x="24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28920" y="4824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6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788400" y="52704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3"/>
                  <a:pt x="40" y="39"/>
                </a:cubicBezTo>
                <a:cubicBezTo>
                  <a:pt x="44" y="35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2"/>
                  <a:pt x="29" y="0"/>
                  <a:pt x="22" y="0"/>
                </a:cubicBezTo>
                <a:cubicBezTo>
                  <a:pt x="16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39"/>
                </a:cubicBezTo>
                <a:cubicBezTo>
                  <a:pt x="11" y="43"/>
                  <a:pt x="16" y="47"/>
                  <a:pt x="22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925560" y="5666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063080" y="6210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39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39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187640" y="7041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8"/>
                </a:cubicBezTo>
                <a:cubicBezTo>
                  <a:pt x="36" y="4"/>
                  <a:pt x="30" y="0"/>
                  <a:pt x="24" y="0"/>
                </a:cubicBezTo>
                <a:cubicBezTo>
                  <a:pt x="18" y="0"/>
                  <a:pt x="12" y="4"/>
                  <a:pt x="7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326880" y="422640"/>
            <a:ext cx="958320" cy="492840"/>
          </a:xfrm>
          <a:custGeom>
            <a:avLst/>
            <a:gdLst/>
            <a:ahLst/>
            <a:rect l="0" t="0" r="r" b="b"/>
            <a:pathLst>
              <a:path fill="none" w="2662" h="1369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6"/>
                </a:lnTo>
                <a:lnTo>
                  <a:pt x="1717" y="384"/>
                </a:lnTo>
                <a:lnTo>
                  <a:pt x="1914" y="445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3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8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60"/>
                </a:lnTo>
                <a:lnTo>
                  <a:pt x="2648" y="1155"/>
                </a:lnTo>
                <a:lnTo>
                  <a:pt x="2657" y="1266"/>
                </a:lnTo>
                <a:lnTo>
                  <a:pt x="2662" y="1369"/>
                </a:lnTo>
              </a:path>
            </a:pathLst>
          </a:custGeom>
          <a:ln cap="sq" w="10080">
            <a:solidFill>
              <a:srgbClr val="a3adb8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18600" y="37332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5" y="44"/>
                  <a:pt x="40" y="40"/>
                </a:cubicBezTo>
                <a:cubicBezTo>
                  <a:pt x="44" y="35"/>
                  <a:pt x="47" y="30"/>
                  <a:pt x="47" y="24"/>
                </a:cubicBezTo>
                <a:cubicBezTo>
                  <a:pt x="47" y="16"/>
                  <a:pt x="44" y="11"/>
                  <a:pt x="40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6"/>
                </a:cubicBezTo>
                <a:cubicBezTo>
                  <a:pt x="2" y="11"/>
                  <a:pt x="0" y="16"/>
                  <a:pt x="0" y="24"/>
                </a:cubicBezTo>
                <a:cubicBezTo>
                  <a:pt x="0" y="30"/>
                  <a:pt x="2" y="35"/>
                  <a:pt x="6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55760" y="4075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28920" y="4435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788400" y="49428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3"/>
                  <a:pt x="40" y="39"/>
                </a:cubicBezTo>
                <a:cubicBezTo>
                  <a:pt x="44" y="35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2"/>
                  <a:pt x="29" y="0"/>
                  <a:pt x="22" y="0"/>
                </a:cubicBezTo>
                <a:cubicBezTo>
                  <a:pt x="16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39"/>
                </a:cubicBezTo>
                <a:cubicBezTo>
                  <a:pt x="11" y="43"/>
                  <a:pt x="16" y="47"/>
                  <a:pt x="22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925560" y="512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063080" y="5695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187640" y="6282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4" y="36"/>
                  <a:pt x="47" y="29"/>
                  <a:pt x="47" y="23"/>
                </a:cubicBezTo>
                <a:cubicBezTo>
                  <a:pt x="47" y="17"/>
                  <a:pt x="44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6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7" y="40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a3adb8">
              <a:alpha val="55000"/>
            </a:srgbClr>
          </a:solidFill>
          <a:ln w="12600">
            <a:solidFill>
              <a:srgbClr val="a3adb8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26880" y="386640"/>
            <a:ext cx="958320" cy="492840"/>
          </a:xfrm>
          <a:custGeom>
            <a:avLst/>
            <a:gdLst/>
            <a:ahLst/>
            <a:rect l="0" t="0" r="r" b="b"/>
            <a:pathLst>
              <a:path fill="none" w="2662" h="1369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6"/>
                </a:lnTo>
                <a:lnTo>
                  <a:pt x="1717" y="384"/>
                </a:lnTo>
                <a:lnTo>
                  <a:pt x="1914" y="445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3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8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1"/>
                </a:lnTo>
                <a:lnTo>
                  <a:pt x="2616" y="980"/>
                </a:lnTo>
                <a:lnTo>
                  <a:pt x="2635" y="1060"/>
                </a:lnTo>
                <a:lnTo>
                  <a:pt x="2648" y="1155"/>
                </a:lnTo>
                <a:lnTo>
                  <a:pt x="2657" y="1266"/>
                </a:lnTo>
                <a:lnTo>
                  <a:pt x="2662" y="1369"/>
                </a:lnTo>
              </a:path>
            </a:pathLst>
          </a:custGeom>
          <a:ln cap="sq" w="10080">
            <a:solidFill>
              <a:srgbClr val="a3adb8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18600" y="37404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5" y="44"/>
                  <a:pt x="40" y="40"/>
                </a:cubicBezTo>
                <a:cubicBezTo>
                  <a:pt x="44" y="35"/>
                  <a:pt x="47" y="30"/>
                  <a:pt x="47" y="24"/>
                </a:cubicBezTo>
                <a:cubicBezTo>
                  <a:pt x="47" y="16"/>
                  <a:pt x="44" y="11"/>
                  <a:pt x="40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6"/>
                </a:cubicBezTo>
                <a:cubicBezTo>
                  <a:pt x="2" y="11"/>
                  <a:pt x="0" y="16"/>
                  <a:pt x="0" y="24"/>
                </a:cubicBezTo>
                <a:cubicBezTo>
                  <a:pt x="0" y="30"/>
                  <a:pt x="2" y="35"/>
                  <a:pt x="6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55760" y="3981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28920" y="453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88400" y="49032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2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925560" y="516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063080" y="5655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1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7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187640" y="6271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7" y="40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26880" y="385560"/>
            <a:ext cx="958320" cy="492840"/>
          </a:xfrm>
          <a:custGeom>
            <a:avLst/>
            <a:gdLst/>
            <a:ahLst/>
            <a:rect l="0" t="0" r="r" b="b"/>
            <a:pathLst>
              <a:path fill="none" w="2662" h="1369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6"/>
                </a:lnTo>
                <a:lnTo>
                  <a:pt x="1717" y="384"/>
                </a:lnTo>
                <a:lnTo>
                  <a:pt x="1914" y="445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8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1"/>
                </a:lnTo>
                <a:lnTo>
                  <a:pt x="2616" y="979"/>
                </a:lnTo>
                <a:lnTo>
                  <a:pt x="2635" y="1060"/>
                </a:lnTo>
                <a:lnTo>
                  <a:pt x="2648" y="1155"/>
                </a:lnTo>
                <a:lnTo>
                  <a:pt x="2657" y="1266"/>
                </a:lnTo>
                <a:lnTo>
                  <a:pt x="2662" y="1369"/>
                </a:lnTo>
              </a:path>
            </a:pathLst>
          </a:custGeom>
          <a:ln cap="sq" w="10080">
            <a:solidFill>
              <a:srgbClr val="8fd3f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18600" y="406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55760" y="4302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2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2"/>
                  <a:pt x="0" y="17"/>
                  <a:pt x="0" y="23"/>
                </a:cubicBezTo>
                <a:cubicBezTo>
                  <a:pt x="0" y="29"/>
                  <a:pt x="3" y="35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28920" y="4878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788400" y="51444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1"/>
                </a:cubicBezTo>
                <a:cubicBezTo>
                  <a:pt x="44" y="36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6" y="41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925560" y="550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063080" y="59580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5" y="44"/>
                  <a:pt x="39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6"/>
                  <a:pt x="44" y="11"/>
                  <a:pt x="39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2" y="11"/>
                  <a:pt x="0" y="16"/>
                  <a:pt x="0" y="23"/>
                </a:cubicBezTo>
                <a:cubicBezTo>
                  <a:pt x="0" y="29"/>
                  <a:pt x="2" y="35"/>
                  <a:pt x="7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187640" y="66672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4" y="46"/>
                </a:moveTo>
                <a:cubicBezTo>
                  <a:pt x="30" y="46"/>
                  <a:pt x="36" y="44"/>
                  <a:pt x="40" y="40"/>
                </a:cubicBezTo>
                <a:cubicBezTo>
                  <a:pt x="44" y="35"/>
                  <a:pt x="47" y="30"/>
                  <a:pt x="47" y="24"/>
                </a:cubicBezTo>
                <a:cubicBezTo>
                  <a:pt x="47" y="17"/>
                  <a:pt x="44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6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5"/>
                  <a:pt x="7" y="40"/>
                </a:cubicBezTo>
                <a:cubicBezTo>
                  <a:pt x="12" y="44"/>
                  <a:pt x="18" y="46"/>
                  <a:pt x="24" y="46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26880" y="41796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499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8fd3f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318600" y="305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6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55760" y="3358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28920" y="38268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6" y="44"/>
                  <a:pt x="40" y="39"/>
                </a:cubicBezTo>
                <a:cubicBezTo>
                  <a:pt x="45" y="34"/>
                  <a:pt x="47" y="29"/>
                  <a:pt x="47" y="22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6"/>
                  <a:pt x="0" y="22"/>
                </a:cubicBezTo>
                <a:cubicBezTo>
                  <a:pt x="0" y="29"/>
                  <a:pt x="3" y="34"/>
                  <a:pt x="7" y="39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88400" y="4176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4"/>
                  <a:pt x="40" y="40"/>
                </a:cubicBezTo>
                <a:cubicBezTo>
                  <a:pt x="44" y="36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2"/>
                  <a:pt x="29" y="0"/>
                  <a:pt x="22" y="0"/>
                </a:cubicBezTo>
                <a:cubicBezTo>
                  <a:pt x="16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6" y="40"/>
                </a:cubicBezTo>
                <a:cubicBezTo>
                  <a:pt x="11" y="44"/>
                  <a:pt x="16" y="47"/>
                  <a:pt x="22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925560" y="4608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063080" y="498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39" y="40"/>
                </a:cubicBezTo>
                <a:cubicBezTo>
                  <a:pt x="44" y="36"/>
                  <a:pt x="47" y="29"/>
                  <a:pt x="47" y="23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187640" y="5655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26880" y="31896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1"/>
                </a:lnTo>
                <a:lnTo>
                  <a:pt x="2616" y="979"/>
                </a:lnTo>
                <a:lnTo>
                  <a:pt x="2635" y="1058"/>
                </a:lnTo>
                <a:lnTo>
                  <a:pt x="2648" y="1153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8fd3f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18600" y="381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455760" y="426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28920" y="459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3"/>
                  <a:pt x="29" y="0"/>
                  <a:pt x="23" y="0"/>
                </a:cubicBezTo>
                <a:cubicBezTo>
                  <a:pt x="17" y="0"/>
                  <a:pt x="11" y="3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88400" y="49716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1"/>
                </a:cubicBezTo>
                <a:cubicBezTo>
                  <a:pt x="44" y="35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1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925560" y="5270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1063080" y="5734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39" y="8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187640" y="6476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326880" y="39888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499"/>
                </a:lnTo>
                <a:lnTo>
                  <a:pt x="2193" y="552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1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8fd3f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318600" y="354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455760" y="377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8920" y="4161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1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88400" y="4446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1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2"/>
                  <a:pt x="40" y="8"/>
                </a:cubicBezTo>
                <a:cubicBezTo>
                  <a:pt x="34" y="4"/>
                  <a:pt x="29" y="0"/>
                  <a:pt x="22" y="0"/>
                </a:cubicBezTo>
                <a:cubicBezTo>
                  <a:pt x="16" y="0"/>
                  <a:pt x="11" y="4"/>
                  <a:pt x="6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1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925560" y="4824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063080" y="5270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39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7" y="39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187640" y="588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326880" y="36000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1"/>
                </a:lnTo>
                <a:lnTo>
                  <a:pt x="2616" y="979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8fd3f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18600" y="3445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55760" y="378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20" y="422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88400" y="45252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925560" y="489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063080" y="532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0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187640" y="6048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8fd3f4">
              <a:alpha val="55000"/>
            </a:srgbClr>
          </a:solidFill>
          <a:ln w="12600">
            <a:solidFill>
              <a:srgbClr val="8fd3f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26880" y="35820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1"/>
                </a:lnTo>
                <a:lnTo>
                  <a:pt x="2616" y="979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8fd3f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18600" y="46656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5" y="44"/>
                  <a:pt x="40" y="40"/>
                </a:cubicBezTo>
                <a:cubicBezTo>
                  <a:pt x="44" y="35"/>
                  <a:pt x="47" y="29"/>
                  <a:pt x="47" y="22"/>
                </a:cubicBezTo>
                <a:cubicBezTo>
                  <a:pt x="47" y="16"/>
                  <a:pt x="44" y="11"/>
                  <a:pt x="40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6"/>
                </a:cubicBezTo>
                <a:cubicBezTo>
                  <a:pt x="2" y="11"/>
                  <a:pt x="0" y="16"/>
                  <a:pt x="0" y="22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455760" y="4960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41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28920" y="5389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7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788400" y="58104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4"/>
                  <a:pt x="40" y="40"/>
                </a:cubicBezTo>
                <a:cubicBezTo>
                  <a:pt x="44" y="36"/>
                  <a:pt x="46" y="30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2"/>
                  <a:pt x="29" y="0"/>
                  <a:pt x="22" y="0"/>
                </a:cubicBezTo>
                <a:cubicBezTo>
                  <a:pt x="16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6" y="47"/>
                  <a:pt x="22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925560" y="6058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063080" y="6526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187640" y="71640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4" y="46"/>
                </a:moveTo>
                <a:cubicBezTo>
                  <a:pt x="30" y="46"/>
                  <a:pt x="36" y="44"/>
                  <a:pt x="40" y="40"/>
                </a:cubicBezTo>
                <a:cubicBezTo>
                  <a:pt x="44" y="35"/>
                  <a:pt x="47" y="30"/>
                  <a:pt x="47" y="23"/>
                </a:cubicBezTo>
                <a:cubicBezTo>
                  <a:pt x="47" y="17"/>
                  <a:pt x="44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6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5"/>
                  <a:pt x="7" y="40"/>
                </a:cubicBezTo>
                <a:cubicBezTo>
                  <a:pt x="12" y="44"/>
                  <a:pt x="18" y="46"/>
                  <a:pt x="24" y="46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326880" y="47844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499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9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2a6fb0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318600" y="5133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55760" y="5403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628920" y="58572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6" y="44"/>
                  <a:pt x="40" y="40"/>
                </a:cubicBezTo>
                <a:cubicBezTo>
                  <a:pt x="45" y="35"/>
                  <a:pt x="47" y="30"/>
                  <a:pt x="47" y="24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88400" y="61344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1"/>
                </a:cubicBezTo>
                <a:cubicBezTo>
                  <a:pt x="44" y="36"/>
                  <a:pt x="46" y="30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6" y="41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925560" y="64908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4" y="46"/>
                </a:moveTo>
                <a:cubicBezTo>
                  <a:pt x="30" y="46"/>
                  <a:pt x="36" y="44"/>
                  <a:pt x="40" y="40"/>
                </a:cubicBezTo>
                <a:cubicBezTo>
                  <a:pt x="45" y="35"/>
                  <a:pt x="47" y="30"/>
                  <a:pt x="47" y="23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6"/>
                  <a:pt x="0" y="23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8" y="46"/>
                  <a:pt x="24" y="46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063080" y="696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39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187640" y="7599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326880" y="52308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3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9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2a6fb0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318600" y="440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6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455760" y="468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5"/>
                  <a:pt x="47" y="30"/>
                  <a:pt x="47" y="23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6"/>
                  <a:pt x="0" y="23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28920" y="5029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88400" y="5508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925560" y="5853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063080" y="6368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39" y="40"/>
                </a:cubicBezTo>
                <a:cubicBezTo>
                  <a:pt x="44" y="35"/>
                  <a:pt x="47" y="30"/>
                  <a:pt x="47" y="24"/>
                </a:cubicBezTo>
                <a:cubicBezTo>
                  <a:pt x="47" y="18"/>
                  <a:pt x="44" y="12"/>
                  <a:pt x="39" y="6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5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187640" y="704520"/>
            <a:ext cx="16920" cy="17280"/>
          </a:xfrm>
          <a:custGeom>
            <a:avLst/>
            <a:gdLst/>
            <a:ahLst/>
            <a:rect l="0" t="0" r="r" b="b"/>
            <a:pathLst>
              <a:path w="47" h="48">
                <a:moveTo>
                  <a:pt x="24" y="48"/>
                </a:moveTo>
                <a:cubicBezTo>
                  <a:pt x="30" y="48"/>
                  <a:pt x="36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8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4"/>
                  <a:pt x="18" y="48"/>
                  <a:pt x="24" y="48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326880" y="45072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2a6fb0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318600" y="3736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55760" y="4104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28920" y="44136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6" y="44"/>
                  <a:pt x="40" y="40"/>
                </a:cubicBezTo>
                <a:cubicBezTo>
                  <a:pt x="45" y="35"/>
                  <a:pt x="47" y="30"/>
                  <a:pt x="47" y="24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788400" y="48564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1"/>
                </a:cubicBezTo>
                <a:cubicBezTo>
                  <a:pt x="44" y="36"/>
                  <a:pt x="46" y="30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6" y="41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925560" y="5202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063080" y="558720"/>
            <a:ext cx="16920" cy="17280"/>
          </a:xfrm>
          <a:custGeom>
            <a:avLst/>
            <a:gdLst/>
            <a:ahLst/>
            <a:rect l="0" t="0" r="r" b="b"/>
            <a:pathLst>
              <a:path w="47" h="48">
                <a:moveTo>
                  <a:pt x="23" y="48"/>
                </a:moveTo>
                <a:cubicBezTo>
                  <a:pt x="29" y="48"/>
                  <a:pt x="35" y="45"/>
                  <a:pt x="39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39" y="8"/>
                </a:cubicBezTo>
                <a:cubicBezTo>
                  <a:pt x="35" y="4"/>
                  <a:pt x="29" y="0"/>
                  <a:pt x="23" y="0"/>
                </a:cubicBezTo>
                <a:cubicBezTo>
                  <a:pt x="17" y="0"/>
                  <a:pt x="11" y="4"/>
                  <a:pt x="7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1" y="45"/>
                  <a:pt x="17" y="48"/>
                  <a:pt x="23" y="48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187640" y="6300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326880" y="38700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499"/>
                </a:lnTo>
                <a:lnTo>
                  <a:pt x="2193" y="552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8"/>
                </a:lnTo>
                <a:lnTo>
                  <a:pt x="2528" y="797"/>
                </a:lnTo>
                <a:lnTo>
                  <a:pt x="2563" y="851"/>
                </a:lnTo>
                <a:lnTo>
                  <a:pt x="2593" y="911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2a6fb0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18600" y="4748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455760" y="503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628920" y="541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788400" y="58032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925560" y="6148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063080" y="6573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39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7" y="39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187640" y="7308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26880" y="48492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9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2a6fb0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18600" y="510120"/>
            <a:ext cx="16920" cy="17280"/>
          </a:xfrm>
          <a:custGeom>
            <a:avLst/>
            <a:gdLst/>
            <a:ahLst/>
            <a:rect l="0" t="0" r="r" b="b"/>
            <a:pathLst>
              <a:path w="47" h="48">
                <a:moveTo>
                  <a:pt x="23" y="48"/>
                </a:moveTo>
                <a:cubicBezTo>
                  <a:pt x="29" y="48"/>
                  <a:pt x="35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8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7" y="48"/>
                  <a:pt x="23" y="48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455760" y="525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2"/>
                  <a:pt x="40" y="8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8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0"/>
                  <a:pt x="3" y="36"/>
                  <a:pt x="7" y="41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28920" y="566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788400" y="59616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925560" y="640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063080" y="68760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23" y="46"/>
                </a:moveTo>
                <a:cubicBezTo>
                  <a:pt x="29" y="46"/>
                  <a:pt x="35" y="44"/>
                  <a:pt x="39" y="40"/>
                </a:cubicBezTo>
                <a:cubicBezTo>
                  <a:pt x="44" y="35"/>
                  <a:pt x="47" y="30"/>
                  <a:pt x="47" y="23"/>
                </a:cubicBezTo>
                <a:cubicBezTo>
                  <a:pt x="47" y="17"/>
                  <a:pt x="44" y="12"/>
                  <a:pt x="39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2" y="12"/>
                  <a:pt x="0" y="17"/>
                  <a:pt x="0" y="23"/>
                </a:cubicBezTo>
                <a:cubicBezTo>
                  <a:pt x="0" y="30"/>
                  <a:pt x="2" y="35"/>
                  <a:pt x="7" y="40"/>
                </a:cubicBezTo>
                <a:cubicBezTo>
                  <a:pt x="11" y="44"/>
                  <a:pt x="17" y="46"/>
                  <a:pt x="23" y="46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187640" y="7560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2a6fb0">
              <a:alpha val="55000"/>
            </a:srgbClr>
          </a:solidFill>
          <a:ln w="12600">
            <a:solidFill>
              <a:srgbClr val="2a6fb0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326880" y="51264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499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9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2a6fb0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18600" y="5090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55760" y="4780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3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3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28920" y="494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3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3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88400" y="52056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925560" y="5544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063080" y="6015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187640" y="667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26880" y="47016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2"/>
                </a:lnTo>
                <a:lnTo>
                  <a:pt x="2437" y="701"/>
                </a:lnTo>
                <a:lnTo>
                  <a:pt x="2486" y="749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0b0b1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18600" y="575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55760" y="5695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28920" y="5839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5"/>
                  <a:pt x="47" y="30"/>
                  <a:pt x="47" y="24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6"/>
                </a:cubicBezTo>
                <a:cubicBezTo>
                  <a:pt x="3" y="11"/>
                  <a:pt x="0" y="16"/>
                  <a:pt x="0" y="24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88400" y="61776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4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1"/>
                  <a:pt x="40" y="7"/>
                </a:cubicBezTo>
                <a:cubicBezTo>
                  <a:pt x="34" y="2"/>
                  <a:pt x="29" y="0"/>
                  <a:pt x="22" y="0"/>
                </a:cubicBezTo>
                <a:cubicBezTo>
                  <a:pt x="16" y="0"/>
                  <a:pt x="11" y="2"/>
                  <a:pt x="6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6" y="47"/>
                  <a:pt x="22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925560" y="660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6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6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063080" y="702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39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39" y="8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187640" y="7786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6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26880" y="55548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6"/>
                </a:lnTo>
                <a:lnTo>
                  <a:pt x="1717" y="384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4"/>
                </a:lnTo>
                <a:lnTo>
                  <a:pt x="2290" y="603"/>
                </a:lnTo>
                <a:lnTo>
                  <a:pt x="2372" y="654"/>
                </a:lnTo>
                <a:lnTo>
                  <a:pt x="2437" y="702"/>
                </a:lnTo>
                <a:lnTo>
                  <a:pt x="2486" y="749"/>
                </a:lnTo>
                <a:lnTo>
                  <a:pt x="2528" y="799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0b0b1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18600" y="4788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40" y="39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39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455760" y="516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28920" y="4899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7"/>
                </a:cubicBezTo>
                <a:cubicBezTo>
                  <a:pt x="36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788400" y="50292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4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2"/>
                  <a:pt x="29" y="0"/>
                  <a:pt x="22" y="0"/>
                </a:cubicBezTo>
                <a:cubicBezTo>
                  <a:pt x="16" y="0"/>
                  <a:pt x="11" y="2"/>
                  <a:pt x="6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4"/>
                  <a:pt x="16" y="47"/>
                  <a:pt x="22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925560" y="5277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063080" y="5774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187640" y="6544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40" y="8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2" y="3"/>
                  <a:pt x="7" y="8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2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26880" y="464040"/>
            <a:ext cx="958320" cy="492840"/>
          </a:xfrm>
          <a:custGeom>
            <a:avLst/>
            <a:gdLst/>
            <a:ahLst/>
            <a:rect l="0" t="0" r="r" b="b"/>
            <a:pathLst>
              <a:path fill="none" w="2662" h="1369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7"/>
                </a:lnTo>
                <a:lnTo>
                  <a:pt x="1717" y="384"/>
                </a:lnTo>
                <a:lnTo>
                  <a:pt x="1914" y="445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3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8"/>
                </a:lnTo>
                <a:lnTo>
                  <a:pt x="2528" y="799"/>
                </a:lnTo>
                <a:lnTo>
                  <a:pt x="2563" y="853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60"/>
                </a:lnTo>
                <a:lnTo>
                  <a:pt x="2648" y="1155"/>
                </a:lnTo>
                <a:lnTo>
                  <a:pt x="2657" y="1266"/>
                </a:lnTo>
                <a:lnTo>
                  <a:pt x="2662" y="1369"/>
                </a:lnTo>
              </a:path>
            </a:pathLst>
          </a:custGeom>
          <a:ln cap="sq" w="10080">
            <a:solidFill>
              <a:srgbClr val="0b0b1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18600" y="4856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6"/>
                  <a:pt x="47" y="30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55760" y="5299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28920" y="5641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4"/>
                  <a:pt x="40" y="40"/>
                </a:cubicBezTo>
                <a:cubicBezTo>
                  <a:pt x="45" y="36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88400" y="60228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1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8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6" y="41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925560" y="6260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0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40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063080" y="6850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39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39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187640" y="7470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7"/>
                  <a:pt x="44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6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26880" y="50292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5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500"/>
                </a:lnTo>
                <a:lnTo>
                  <a:pt x="2193" y="553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9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0b0b1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18600" y="5130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40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455760" y="5464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5"/>
                  <a:pt x="40" y="41"/>
                </a:cubicBezTo>
                <a:cubicBezTo>
                  <a:pt x="45" y="36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3"/>
                  <a:pt x="30" y="0"/>
                  <a:pt x="24" y="0"/>
                </a:cubicBezTo>
                <a:cubicBezTo>
                  <a:pt x="18" y="0"/>
                  <a:pt x="11" y="3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6"/>
                  <a:pt x="7" y="41"/>
                </a:cubicBezTo>
                <a:cubicBezTo>
                  <a:pt x="11" y="45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28920" y="5540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5"/>
                  <a:pt x="40" y="40"/>
                </a:cubicBezTo>
                <a:cubicBezTo>
                  <a:pt x="45" y="36"/>
                  <a:pt x="47" y="30"/>
                  <a:pt x="47" y="24"/>
                </a:cubicBezTo>
                <a:cubicBezTo>
                  <a:pt x="47" y="18"/>
                  <a:pt x="45" y="11"/>
                  <a:pt x="40" y="7"/>
                </a:cubicBezTo>
                <a:cubicBezTo>
                  <a:pt x="36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3" y="11"/>
                  <a:pt x="0" y="18"/>
                  <a:pt x="0" y="24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88400" y="60984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5"/>
                  <a:pt x="46" y="29"/>
                  <a:pt x="46" y="23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925560" y="6285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6"/>
                  <a:pt x="0" y="23"/>
                </a:cubicBezTo>
                <a:cubicBezTo>
                  <a:pt x="0" y="29"/>
                  <a:pt x="3" y="35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063080" y="684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5"/>
                  <a:pt x="39" y="41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2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2"/>
                  <a:pt x="0" y="18"/>
                  <a:pt x="0" y="24"/>
                </a:cubicBezTo>
                <a:cubicBezTo>
                  <a:pt x="0" y="30"/>
                  <a:pt x="2" y="36"/>
                  <a:pt x="7" y="41"/>
                </a:cubicBezTo>
                <a:cubicBezTo>
                  <a:pt x="11" y="45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187640" y="7552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39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6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7" y="39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326880" y="518040"/>
            <a:ext cx="958320" cy="492480"/>
          </a:xfrm>
          <a:custGeom>
            <a:avLst/>
            <a:gdLst/>
            <a:ahLst/>
            <a:rect l="0" t="0" r="r" b="b"/>
            <a:pathLst>
              <a:path fill="none" w="2662" h="1368">
                <a:moveTo>
                  <a:pt x="0" y="0"/>
                </a:moveTo>
                <a:lnTo>
                  <a:pt x="671" y="134"/>
                </a:lnTo>
                <a:lnTo>
                  <a:pt x="1129" y="234"/>
                </a:lnTo>
                <a:lnTo>
                  <a:pt x="1468" y="316"/>
                </a:lnTo>
                <a:lnTo>
                  <a:pt x="1717" y="383"/>
                </a:lnTo>
                <a:lnTo>
                  <a:pt x="1914" y="444"/>
                </a:lnTo>
                <a:lnTo>
                  <a:pt x="2068" y="499"/>
                </a:lnTo>
                <a:lnTo>
                  <a:pt x="2193" y="552"/>
                </a:lnTo>
                <a:lnTo>
                  <a:pt x="2290" y="602"/>
                </a:lnTo>
                <a:lnTo>
                  <a:pt x="2372" y="653"/>
                </a:lnTo>
                <a:lnTo>
                  <a:pt x="2437" y="702"/>
                </a:lnTo>
                <a:lnTo>
                  <a:pt x="2486" y="749"/>
                </a:lnTo>
                <a:lnTo>
                  <a:pt x="2528" y="798"/>
                </a:lnTo>
                <a:lnTo>
                  <a:pt x="2563" y="852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59"/>
                </a:lnTo>
                <a:lnTo>
                  <a:pt x="2648" y="1154"/>
                </a:lnTo>
                <a:lnTo>
                  <a:pt x="2657" y="1266"/>
                </a:lnTo>
                <a:lnTo>
                  <a:pt x="2662" y="1368"/>
                </a:lnTo>
              </a:path>
            </a:pathLst>
          </a:custGeom>
          <a:ln cap="sq" w="10080">
            <a:solidFill>
              <a:srgbClr val="0b0b1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318600" y="6076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3"/>
                  <a:pt x="40" y="39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40" y="7"/>
                </a:cubicBezTo>
                <a:cubicBezTo>
                  <a:pt x="35" y="2"/>
                  <a:pt x="29" y="0"/>
                  <a:pt x="23" y="0"/>
                </a:cubicBezTo>
                <a:cubicBezTo>
                  <a:pt x="17" y="0"/>
                  <a:pt x="11" y="2"/>
                  <a:pt x="6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6" y="39"/>
                </a:cubicBezTo>
                <a:cubicBezTo>
                  <a:pt x="11" y="43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455760" y="61560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5"/>
                  <a:pt x="47" y="30"/>
                  <a:pt x="47" y="24"/>
                </a:cubicBezTo>
                <a:cubicBezTo>
                  <a:pt x="47" y="16"/>
                  <a:pt x="45" y="11"/>
                  <a:pt x="40" y="6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6"/>
                </a:cubicBezTo>
                <a:cubicBezTo>
                  <a:pt x="3" y="11"/>
                  <a:pt x="0" y="16"/>
                  <a:pt x="0" y="24"/>
                </a:cubicBezTo>
                <a:cubicBezTo>
                  <a:pt x="0" y="30"/>
                  <a:pt x="3" y="35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28920" y="6238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6" y="43"/>
                  <a:pt x="40" y="39"/>
                </a:cubicBezTo>
                <a:cubicBezTo>
                  <a:pt x="45" y="35"/>
                  <a:pt x="47" y="29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29" y="0"/>
                  <a:pt x="23" y="0"/>
                </a:cubicBezTo>
                <a:cubicBezTo>
                  <a:pt x="17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29"/>
                  <a:pt x="3" y="35"/>
                  <a:pt x="7" y="39"/>
                </a:cubicBezTo>
                <a:cubicBezTo>
                  <a:pt x="11" y="43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788400" y="6642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22" y="47"/>
                </a:moveTo>
                <a:cubicBezTo>
                  <a:pt x="29" y="47"/>
                  <a:pt x="34" y="45"/>
                  <a:pt x="40" y="40"/>
                </a:cubicBezTo>
                <a:cubicBezTo>
                  <a:pt x="44" y="36"/>
                  <a:pt x="46" y="30"/>
                  <a:pt x="46" y="24"/>
                </a:cubicBezTo>
                <a:cubicBezTo>
                  <a:pt x="46" y="17"/>
                  <a:pt x="44" y="11"/>
                  <a:pt x="40" y="7"/>
                </a:cubicBezTo>
                <a:cubicBezTo>
                  <a:pt x="34" y="3"/>
                  <a:pt x="29" y="0"/>
                  <a:pt x="22" y="0"/>
                </a:cubicBezTo>
                <a:cubicBezTo>
                  <a:pt x="16" y="0"/>
                  <a:pt x="11" y="3"/>
                  <a:pt x="6" y="7"/>
                </a:cubicBezTo>
                <a:cubicBezTo>
                  <a:pt x="2" y="11"/>
                  <a:pt x="0" y="17"/>
                  <a:pt x="0" y="24"/>
                </a:cubicBezTo>
                <a:cubicBezTo>
                  <a:pt x="0" y="30"/>
                  <a:pt x="2" y="36"/>
                  <a:pt x="6" y="40"/>
                </a:cubicBezTo>
                <a:cubicBezTo>
                  <a:pt x="11" y="45"/>
                  <a:pt x="16" y="47"/>
                  <a:pt x="22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925560" y="69624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5" y="36"/>
                  <a:pt x="47" y="30"/>
                  <a:pt x="47" y="23"/>
                </a:cubicBezTo>
                <a:cubicBezTo>
                  <a:pt x="47" y="17"/>
                  <a:pt x="45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1" y="2"/>
                  <a:pt x="7" y="7"/>
                </a:cubicBezTo>
                <a:cubicBezTo>
                  <a:pt x="3" y="11"/>
                  <a:pt x="0" y="17"/>
                  <a:pt x="0" y="23"/>
                </a:cubicBezTo>
                <a:cubicBezTo>
                  <a:pt x="0" y="30"/>
                  <a:pt x="3" y="36"/>
                  <a:pt x="7" y="40"/>
                </a:cubicBezTo>
                <a:cubicBezTo>
                  <a:pt x="11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063080" y="75348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3" y="47"/>
                </a:moveTo>
                <a:cubicBezTo>
                  <a:pt x="29" y="47"/>
                  <a:pt x="35" y="44"/>
                  <a:pt x="39" y="40"/>
                </a:cubicBezTo>
                <a:cubicBezTo>
                  <a:pt x="44" y="35"/>
                  <a:pt x="47" y="29"/>
                  <a:pt x="47" y="23"/>
                </a:cubicBezTo>
                <a:cubicBezTo>
                  <a:pt x="47" y="17"/>
                  <a:pt x="44" y="11"/>
                  <a:pt x="39" y="7"/>
                </a:cubicBezTo>
                <a:cubicBezTo>
                  <a:pt x="35" y="3"/>
                  <a:pt x="29" y="0"/>
                  <a:pt x="23" y="0"/>
                </a:cubicBezTo>
                <a:cubicBezTo>
                  <a:pt x="17" y="0"/>
                  <a:pt x="11" y="3"/>
                  <a:pt x="7" y="7"/>
                </a:cubicBezTo>
                <a:cubicBezTo>
                  <a:pt x="2" y="11"/>
                  <a:pt x="0" y="17"/>
                  <a:pt x="0" y="23"/>
                </a:cubicBezTo>
                <a:cubicBezTo>
                  <a:pt x="0" y="29"/>
                  <a:pt x="2" y="35"/>
                  <a:pt x="7" y="40"/>
                </a:cubicBezTo>
                <a:cubicBezTo>
                  <a:pt x="11" y="44"/>
                  <a:pt x="17" y="47"/>
                  <a:pt x="23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187640" y="81216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24" y="47"/>
                </a:moveTo>
                <a:cubicBezTo>
                  <a:pt x="30" y="47"/>
                  <a:pt x="36" y="44"/>
                  <a:pt x="40" y="40"/>
                </a:cubicBezTo>
                <a:cubicBezTo>
                  <a:pt x="44" y="36"/>
                  <a:pt x="47" y="30"/>
                  <a:pt x="47" y="24"/>
                </a:cubicBezTo>
                <a:cubicBezTo>
                  <a:pt x="47" y="18"/>
                  <a:pt x="44" y="11"/>
                  <a:pt x="40" y="7"/>
                </a:cubicBezTo>
                <a:cubicBezTo>
                  <a:pt x="36" y="2"/>
                  <a:pt x="30" y="0"/>
                  <a:pt x="24" y="0"/>
                </a:cubicBezTo>
                <a:cubicBezTo>
                  <a:pt x="18" y="0"/>
                  <a:pt x="12" y="2"/>
                  <a:pt x="7" y="7"/>
                </a:cubicBezTo>
                <a:cubicBezTo>
                  <a:pt x="2" y="11"/>
                  <a:pt x="0" y="18"/>
                  <a:pt x="0" y="24"/>
                </a:cubicBezTo>
                <a:cubicBezTo>
                  <a:pt x="0" y="30"/>
                  <a:pt x="2" y="36"/>
                  <a:pt x="7" y="40"/>
                </a:cubicBezTo>
                <a:cubicBezTo>
                  <a:pt x="12" y="44"/>
                  <a:pt x="18" y="47"/>
                  <a:pt x="24" y="47"/>
                </a:cubicBezTo>
                <a:close/>
              </a:path>
            </a:pathLst>
          </a:custGeom>
          <a:solidFill>
            <a:srgbClr val="0b0b14">
              <a:alpha val="55000"/>
            </a:srgbClr>
          </a:solidFill>
          <a:ln w="12600">
            <a:solidFill>
              <a:srgbClr val="0b0b14">
                <a:alpha val="55000"/>
              </a:srgbClr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326880" y="595080"/>
            <a:ext cx="958320" cy="492840"/>
          </a:xfrm>
          <a:custGeom>
            <a:avLst/>
            <a:gdLst/>
            <a:ahLst/>
            <a:rect l="0" t="0" r="r" b="b"/>
            <a:pathLst>
              <a:path fill="none" w="2662" h="1369">
                <a:moveTo>
                  <a:pt x="0" y="0"/>
                </a:moveTo>
                <a:lnTo>
                  <a:pt x="671" y="135"/>
                </a:lnTo>
                <a:lnTo>
                  <a:pt x="1129" y="235"/>
                </a:lnTo>
                <a:lnTo>
                  <a:pt x="1468" y="316"/>
                </a:lnTo>
                <a:lnTo>
                  <a:pt x="1717" y="384"/>
                </a:lnTo>
                <a:lnTo>
                  <a:pt x="1914" y="445"/>
                </a:lnTo>
                <a:lnTo>
                  <a:pt x="2068" y="501"/>
                </a:lnTo>
                <a:lnTo>
                  <a:pt x="2193" y="554"/>
                </a:lnTo>
                <a:lnTo>
                  <a:pt x="2290" y="603"/>
                </a:lnTo>
                <a:lnTo>
                  <a:pt x="2372" y="654"/>
                </a:lnTo>
                <a:lnTo>
                  <a:pt x="2437" y="703"/>
                </a:lnTo>
                <a:lnTo>
                  <a:pt x="2486" y="749"/>
                </a:lnTo>
                <a:lnTo>
                  <a:pt x="2528" y="799"/>
                </a:lnTo>
                <a:lnTo>
                  <a:pt x="2563" y="853"/>
                </a:lnTo>
                <a:lnTo>
                  <a:pt x="2593" y="912"/>
                </a:lnTo>
                <a:lnTo>
                  <a:pt x="2616" y="980"/>
                </a:lnTo>
                <a:lnTo>
                  <a:pt x="2635" y="1060"/>
                </a:lnTo>
                <a:lnTo>
                  <a:pt x="2648" y="1155"/>
                </a:lnTo>
                <a:lnTo>
                  <a:pt x="2657" y="1266"/>
                </a:lnTo>
                <a:lnTo>
                  <a:pt x="2662" y="1369"/>
                </a:lnTo>
              </a:path>
            </a:pathLst>
          </a:custGeom>
          <a:ln cap="sq" w="10080">
            <a:solidFill>
              <a:srgbClr val="0b0b1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 flipV="1">
            <a:off x="279000" y="146520"/>
            <a:ext cx="0" cy="98568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79000" y="1132200"/>
            <a:ext cx="1053720" cy="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 rot="16200000">
            <a:off x="6480" y="596160"/>
            <a:ext cx="109080" cy="8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70" spc="-1" strike="noStrike">
                <a:solidFill>
                  <a:srgbClr val="000000"/>
                </a:solidFill>
                <a:latin typeface="NimbusRoman"/>
                <a:ea typeface="NimbusRoman"/>
              </a:rPr>
              <a:t>SD</a:t>
            </a:r>
            <a:endParaRPr b="0" lang="en-US" sz="6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670040" y="146520"/>
            <a:ext cx="1054080" cy="986040"/>
          </a:xfrm>
          <a:custGeom>
            <a:avLst/>
            <a:gdLst/>
            <a:ahLst/>
            <a:rect l="0" t="0" r="r" b="b"/>
            <a:pathLst>
              <a:path w="2928" h="2739">
                <a:moveTo>
                  <a:pt x="0" y="2739"/>
                </a:moveTo>
                <a:lnTo>
                  <a:pt x="2928" y="2739"/>
                </a:lnTo>
                <a:lnTo>
                  <a:pt x="2928" y="0"/>
                </a:lnTo>
                <a:lnTo>
                  <a:pt x="0" y="0"/>
                </a:lnTo>
                <a:lnTo>
                  <a:pt x="0" y="273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982880" y="1132200"/>
            <a:ext cx="0" cy="19080"/>
          </a:xfrm>
          <a:custGeom>
            <a:avLst/>
            <a:gdLst/>
            <a:ahLst/>
            <a:rect l="0" t="0" r="r" b="b"/>
            <a:pathLst>
              <a:path w="0" h="53">
                <a:moveTo>
                  <a:pt x="0" y="0"/>
                </a:move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982880" y="1132200"/>
            <a:ext cx="0" cy="1908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79000" y="18000"/>
            <a:ext cx="9698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000000"/>
                </a:solidFill>
                <a:latin typeface="NimbusRoman"/>
                <a:ea typeface="NimbusRoman"/>
              </a:rPr>
              <a:t>(a) spread of the estimate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282040" y="1132200"/>
            <a:ext cx="0" cy="19080"/>
          </a:xfrm>
          <a:custGeom>
            <a:avLst/>
            <a:gdLst/>
            <a:ahLst/>
            <a:rect l="0" t="0" r="r" b="b"/>
            <a:pathLst>
              <a:path w="0" h="53">
                <a:moveTo>
                  <a:pt x="0" y="0"/>
                </a:move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282040" y="1132200"/>
            <a:ext cx="0" cy="1908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963080" y="1169280"/>
            <a:ext cx="784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580840" y="1132200"/>
            <a:ext cx="0" cy="19080"/>
          </a:xfrm>
          <a:custGeom>
            <a:avLst/>
            <a:gdLst/>
            <a:ahLst/>
            <a:rect l="0" t="0" r="r" b="b"/>
            <a:pathLst>
              <a:path w="0" h="53">
                <a:moveTo>
                  <a:pt x="0" y="0"/>
                </a:move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580840" y="1132200"/>
            <a:ext cx="0" cy="1908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2242800" y="1169280"/>
            <a:ext cx="799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522160" y="1169280"/>
            <a:ext cx="1195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52514e"/>
                </a:solidFill>
                <a:latin typeface="NimbusRoman"/>
                <a:ea typeface="NimbusRoman"/>
              </a:rPr>
              <a:t>100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702440" y="329040"/>
            <a:ext cx="297000" cy="0"/>
          </a:xfrm>
          <a:prstGeom prst="line">
            <a:avLst/>
          </a:prstGeom>
          <a:ln cap="sq" w="8640">
            <a:solidFill>
              <a:srgbClr val="8fd3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832040" y="657720"/>
            <a:ext cx="729720" cy="0"/>
          </a:xfrm>
          <a:prstGeom prst="line">
            <a:avLst/>
          </a:prstGeom>
          <a:ln cap="sq" w="8640">
            <a:solidFill>
              <a:srgbClr val="a3ad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184120" y="986040"/>
            <a:ext cx="409680" cy="0"/>
          </a:xfrm>
          <a:prstGeom prst="line">
            <a:avLst/>
          </a:prstGeom>
          <a:ln cap="sq" w="8640">
            <a:solidFill>
              <a:srgbClr val="0b0b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670040" y="1132200"/>
            <a:ext cx="1053720" cy="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754280" y="311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1" y="101"/>
                </a:moveTo>
                <a:cubicBezTo>
                  <a:pt x="64" y="101"/>
                  <a:pt x="77" y="96"/>
                  <a:pt x="86" y="86"/>
                </a:cubicBezTo>
                <a:cubicBezTo>
                  <a:pt x="95" y="76"/>
                  <a:pt x="101" y="63"/>
                  <a:pt x="101" y="50"/>
                </a:cubicBezTo>
                <a:cubicBezTo>
                  <a:pt x="101" y="37"/>
                  <a:pt x="95" y="24"/>
                  <a:pt x="86" y="15"/>
                </a:cubicBezTo>
                <a:cubicBezTo>
                  <a:pt x="77" y="5"/>
                  <a:pt x="64" y="0"/>
                  <a:pt x="51" y="0"/>
                </a:cubicBezTo>
                <a:cubicBezTo>
                  <a:pt x="37" y="0"/>
                  <a:pt x="24" y="5"/>
                  <a:pt x="14" y="15"/>
                </a:cubicBezTo>
                <a:cubicBezTo>
                  <a:pt x="5" y="24"/>
                  <a:pt x="0" y="37"/>
                  <a:pt x="0" y="50"/>
                </a:cubicBezTo>
                <a:cubicBezTo>
                  <a:pt x="0" y="63"/>
                  <a:pt x="5" y="76"/>
                  <a:pt x="14" y="86"/>
                </a:cubicBezTo>
                <a:cubicBezTo>
                  <a:pt x="24" y="96"/>
                  <a:pt x="37" y="101"/>
                  <a:pt x="51" y="101"/>
                </a:cubicBezTo>
                <a:close/>
              </a:path>
            </a:pathLst>
          </a:custGeom>
          <a:solidFill>
            <a:srgbClr val="8fd3f4"/>
          </a:solidFill>
          <a:ln w="12600">
            <a:solidFill>
              <a:srgbClr val="8fd3f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684440" y="311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1" y="101"/>
                </a:moveTo>
                <a:cubicBezTo>
                  <a:pt x="64" y="101"/>
                  <a:pt x="77" y="96"/>
                  <a:pt x="87" y="86"/>
                </a:cubicBezTo>
                <a:cubicBezTo>
                  <a:pt x="96" y="76"/>
                  <a:pt x="101" y="63"/>
                  <a:pt x="101" y="50"/>
                </a:cubicBezTo>
                <a:cubicBezTo>
                  <a:pt x="101" y="37"/>
                  <a:pt x="96" y="24"/>
                  <a:pt x="87" y="15"/>
                </a:cubicBezTo>
                <a:cubicBezTo>
                  <a:pt x="77" y="5"/>
                  <a:pt x="64" y="0"/>
                  <a:pt x="51" y="0"/>
                </a:cubicBezTo>
                <a:cubicBezTo>
                  <a:pt x="38" y="0"/>
                  <a:pt x="25" y="5"/>
                  <a:pt x="15" y="15"/>
                </a:cubicBezTo>
                <a:cubicBezTo>
                  <a:pt x="6" y="24"/>
                  <a:pt x="0" y="37"/>
                  <a:pt x="0" y="50"/>
                </a:cubicBezTo>
                <a:cubicBezTo>
                  <a:pt x="0" y="63"/>
                  <a:pt x="6" y="76"/>
                  <a:pt x="15" y="86"/>
                </a:cubicBezTo>
                <a:cubicBezTo>
                  <a:pt x="25" y="96"/>
                  <a:pt x="38" y="101"/>
                  <a:pt x="51" y="101"/>
                </a:cubicBezTo>
                <a:close/>
              </a:path>
            </a:pathLst>
          </a:custGeom>
          <a:solidFill>
            <a:srgbClr val="8fd3f4"/>
          </a:solidFill>
          <a:ln w="12600">
            <a:solidFill>
              <a:srgbClr val="8fd3f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981440" y="311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0" y="101"/>
                </a:moveTo>
                <a:cubicBezTo>
                  <a:pt x="63" y="101"/>
                  <a:pt x="76" y="96"/>
                  <a:pt x="85" y="86"/>
                </a:cubicBezTo>
                <a:cubicBezTo>
                  <a:pt x="96" y="76"/>
                  <a:pt x="101" y="63"/>
                  <a:pt x="101" y="50"/>
                </a:cubicBezTo>
                <a:cubicBezTo>
                  <a:pt x="101" y="37"/>
                  <a:pt x="96" y="24"/>
                  <a:pt x="85" y="15"/>
                </a:cubicBezTo>
                <a:cubicBezTo>
                  <a:pt x="76" y="5"/>
                  <a:pt x="63" y="0"/>
                  <a:pt x="50" y="0"/>
                </a:cubicBezTo>
                <a:cubicBezTo>
                  <a:pt x="37" y="0"/>
                  <a:pt x="24" y="5"/>
                  <a:pt x="15" y="15"/>
                </a:cubicBezTo>
                <a:cubicBezTo>
                  <a:pt x="5" y="24"/>
                  <a:pt x="0" y="37"/>
                  <a:pt x="0" y="50"/>
                </a:cubicBezTo>
                <a:cubicBezTo>
                  <a:pt x="0" y="63"/>
                  <a:pt x="5" y="76"/>
                  <a:pt x="15" y="86"/>
                </a:cubicBezTo>
                <a:cubicBezTo>
                  <a:pt x="24" y="96"/>
                  <a:pt x="37" y="101"/>
                  <a:pt x="50" y="101"/>
                </a:cubicBezTo>
                <a:close/>
              </a:path>
            </a:pathLst>
          </a:custGeom>
          <a:solidFill>
            <a:srgbClr val="8fd3f4"/>
          </a:solidFill>
          <a:ln w="12600">
            <a:solidFill>
              <a:srgbClr val="8fd3f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727280" y="311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1" y="101"/>
                </a:moveTo>
                <a:cubicBezTo>
                  <a:pt x="64" y="101"/>
                  <a:pt x="77" y="96"/>
                  <a:pt x="86" y="86"/>
                </a:cubicBezTo>
                <a:cubicBezTo>
                  <a:pt x="95" y="76"/>
                  <a:pt x="101" y="63"/>
                  <a:pt x="101" y="50"/>
                </a:cubicBezTo>
                <a:cubicBezTo>
                  <a:pt x="101" y="37"/>
                  <a:pt x="95" y="24"/>
                  <a:pt x="86" y="15"/>
                </a:cubicBezTo>
                <a:cubicBezTo>
                  <a:pt x="77" y="5"/>
                  <a:pt x="64" y="0"/>
                  <a:pt x="51" y="0"/>
                </a:cubicBezTo>
                <a:cubicBezTo>
                  <a:pt x="38" y="0"/>
                  <a:pt x="25" y="5"/>
                  <a:pt x="15" y="15"/>
                </a:cubicBezTo>
                <a:cubicBezTo>
                  <a:pt x="6" y="24"/>
                  <a:pt x="0" y="37"/>
                  <a:pt x="0" y="50"/>
                </a:cubicBezTo>
                <a:cubicBezTo>
                  <a:pt x="0" y="63"/>
                  <a:pt x="6" y="76"/>
                  <a:pt x="15" y="86"/>
                </a:cubicBezTo>
                <a:cubicBezTo>
                  <a:pt x="25" y="96"/>
                  <a:pt x="38" y="101"/>
                  <a:pt x="51" y="101"/>
                </a:cubicBezTo>
                <a:close/>
              </a:path>
            </a:pathLst>
          </a:custGeom>
          <a:solidFill>
            <a:srgbClr val="8fd3f4"/>
          </a:solidFill>
          <a:ln w="12600">
            <a:solidFill>
              <a:srgbClr val="8fd3f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858320" y="311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1" y="101"/>
                </a:moveTo>
                <a:cubicBezTo>
                  <a:pt x="64" y="101"/>
                  <a:pt x="77" y="96"/>
                  <a:pt x="86" y="86"/>
                </a:cubicBezTo>
                <a:cubicBezTo>
                  <a:pt x="96" y="76"/>
                  <a:pt x="101" y="63"/>
                  <a:pt x="101" y="50"/>
                </a:cubicBezTo>
                <a:cubicBezTo>
                  <a:pt x="101" y="37"/>
                  <a:pt x="96" y="24"/>
                  <a:pt x="86" y="15"/>
                </a:cubicBezTo>
                <a:cubicBezTo>
                  <a:pt x="77" y="5"/>
                  <a:pt x="64" y="0"/>
                  <a:pt x="51" y="0"/>
                </a:cubicBezTo>
                <a:cubicBezTo>
                  <a:pt x="38" y="0"/>
                  <a:pt x="24" y="5"/>
                  <a:pt x="15" y="15"/>
                </a:cubicBezTo>
                <a:cubicBezTo>
                  <a:pt x="5" y="24"/>
                  <a:pt x="0" y="37"/>
                  <a:pt x="0" y="50"/>
                </a:cubicBezTo>
                <a:cubicBezTo>
                  <a:pt x="0" y="63"/>
                  <a:pt x="5" y="76"/>
                  <a:pt x="15" y="86"/>
                </a:cubicBezTo>
                <a:cubicBezTo>
                  <a:pt x="24" y="96"/>
                  <a:pt x="38" y="101"/>
                  <a:pt x="51" y="101"/>
                </a:cubicBezTo>
                <a:close/>
              </a:path>
            </a:pathLst>
          </a:custGeom>
          <a:solidFill>
            <a:srgbClr val="8fd3f4"/>
          </a:solidFill>
          <a:ln w="12600">
            <a:solidFill>
              <a:srgbClr val="8fd3f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811880" y="3110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49" y="101"/>
                </a:moveTo>
                <a:cubicBezTo>
                  <a:pt x="63" y="101"/>
                  <a:pt x="76" y="96"/>
                  <a:pt x="86" y="86"/>
                </a:cubicBezTo>
                <a:cubicBezTo>
                  <a:pt x="95" y="76"/>
                  <a:pt x="100" y="63"/>
                  <a:pt x="100" y="50"/>
                </a:cubicBezTo>
                <a:cubicBezTo>
                  <a:pt x="100" y="37"/>
                  <a:pt x="95" y="24"/>
                  <a:pt x="86" y="15"/>
                </a:cubicBezTo>
                <a:cubicBezTo>
                  <a:pt x="76" y="5"/>
                  <a:pt x="63" y="0"/>
                  <a:pt x="49" y="0"/>
                </a:cubicBezTo>
                <a:cubicBezTo>
                  <a:pt x="36" y="0"/>
                  <a:pt x="24" y="5"/>
                  <a:pt x="14" y="15"/>
                </a:cubicBezTo>
                <a:cubicBezTo>
                  <a:pt x="5" y="24"/>
                  <a:pt x="0" y="37"/>
                  <a:pt x="0" y="50"/>
                </a:cubicBezTo>
                <a:cubicBezTo>
                  <a:pt x="0" y="63"/>
                  <a:pt x="5" y="76"/>
                  <a:pt x="14" y="86"/>
                </a:cubicBezTo>
                <a:cubicBezTo>
                  <a:pt x="24" y="96"/>
                  <a:pt x="36" y="101"/>
                  <a:pt x="49" y="101"/>
                </a:cubicBezTo>
                <a:close/>
              </a:path>
            </a:pathLst>
          </a:custGeom>
          <a:solidFill>
            <a:srgbClr val="8fd3f4"/>
          </a:solidFill>
          <a:ln w="12600">
            <a:solidFill>
              <a:srgbClr val="8fd3f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062440" y="1248480"/>
            <a:ext cx="270360" cy="8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70" spc="-1" strike="noStrike">
                <a:solidFill>
                  <a:srgbClr val="000000"/>
                </a:solidFill>
                <a:latin typeface="NimbusRoman"/>
                <a:ea typeface="NimbusRoman"/>
              </a:rPr>
              <a:t>minutes</a:t>
            </a:r>
            <a:endParaRPr b="0" lang="en-US" sz="6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814040" y="6397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0" y="101"/>
                </a:moveTo>
                <a:cubicBezTo>
                  <a:pt x="65" y="101"/>
                  <a:pt x="77" y="95"/>
                  <a:pt x="87" y="86"/>
                </a:cubicBezTo>
                <a:cubicBezTo>
                  <a:pt x="96" y="77"/>
                  <a:pt x="101" y="64"/>
                  <a:pt x="101" y="50"/>
                </a:cubicBezTo>
                <a:cubicBezTo>
                  <a:pt x="101" y="36"/>
                  <a:pt x="96" y="24"/>
                  <a:pt x="87" y="14"/>
                </a:cubicBezTo>
                <a:cubicBezTo>
                  <a:pt x="77" y="5"/>
                  <a:pt x="65" y="0"/>
                  <a:pt x="50" y="0"/>
                </a:cubicBezTo>
                <a:cubicBezTo>
                  <a:pt x="37" y="0"/>
                  <a:pt x="24" y="5"/>
                  <a:pt x="15" y="14"/>
                </a:cubicBezTo>
                <a:cubicBezTo>
                  <a:pt x="6" y="24"/>
                  <a:pt x="0" y="36"/>
                  <a:pt x="0" y="50"/>
                </a:cubicBezTo>
                <a:cubicBezTo>
                  <a:pt x="0" y="64"/>
                  <a:pt x="6" y="77"/>
                  <a:pt x="15" y="86"/>
                </a:cubicBezTo>
                <a:cubicBezTo>
                  <a:pt x="24" y="95"/>
                  <a:pt x="37" y="101"/>
                  <a:pt x="50" y="101"/>
                </a:cubicBezTo>
                <a:close/>
              </a:path>
            </a:pathLst>
          </a:custGeom>
          <a:solidFill>
            <a:srgbClr val="a3adb8"/>
          </a:solidFill>
          <a:ln w="12600">
            <a:solidFill>
              <a:srgbClr val="a3adb8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2152800" y="63972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51" y="101"/>
                </a:moveTo>
                <a:cubicBezTo>
                  <a:pt x="64" y="101"/>
                  <a:pt x="76" y="95"/>
                  <a:pt x="86" y="86"/>
                </a:cubicBezTo>
                <a:cubicBezTo>
                  <a:pt x="95" y="77"/>
                  <a:pt x="100" y="64"/>
                  <a:pt x="100" y="50"/>
                </a:cubicBezTo>
                <a:cubicBezTo>
                  <a:pt x="100" y="36"/>
                  <a:pt x="95" y="24"/>
                  <a:pt x="86" y="14"/>
                </a:cubicBezTo>
                <a:cubicBezTo>
                  <a:pt x="76" y="5"/>
                  <a:pt x="64" y="0"/>
                  <a:pt x="51" y="0"/>
                </a:cubicBezTo>
                <a:cubicBezTo>
                  <a:pt x="37" y="0"/>
                  <a:pt x="25" y="5"/>
                  <a:pt x="15" y="14"/>
                </a:cubicBezTo>
                <a:cubicBezTo>
                  <a:pt x="5" y="24"/>
                  <a:pt x="0" y="36"/>
                  <a:pt x="0" y="50"/>
                </a:cubicBezTo>
                <a:cubicBezTo>
                  <a:pt x="0" y="64"/>
                  <a:pt x="5" y="77"/>
                  <a:pt x="15" y="86"/>
                </a:cubicBezTo>
                <a:cubicBezTo>
                  <a:pt x="25" y="95"/>
                  <a:pt x="37" y="101"/>
                  <a:pt x="51" y="101"/>
                </a:cubicBezTo>
                <a:close/>
              </a:path>
            </a:pathLst>
          </a:custGeom>
          <a:solidFill>
            <a:srgbClr val="a3adb8"/>
          </a:solidFill>
          <a:ln w="12600">
            <a:solidFill>
              <a:srgbClr val="a3adb8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108160" y="63972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51" y="101"/>
                </a:moveTo>
                <a:cubicBezTo>
                  <a:pt x="64" y="101"/>
                  <a:pt x="76" y="95"/>
                  <a:pt x="86" y="86"/>
                </a:cubicBezTo>
                <a:cubicBezTo>
                  <a:pt x="95" y="77"/>
                  <a:pt x="100" y="64"/>
                  <a:pt x="100" y="50"/>
                </a:cubicBezTo>
                <a:cubicBezTo>
                  <a:pt x="100" y="36"/>
                  <a:pt x="95" y="24"/>
                  <a:pt x="86" y="14"/>
                </a:cubicBezTo>
                <a:cubicBezTo>
                  <a:pt x="76" y="5"/>
                  <a:pt x="64" y="0"/>
                  <a:pt x="51" y="0"/>
                </a:cubicBezTo>
                <a:cubicBezTo>
                  <a:pt x="37" y="0"/>
                  <a:pt x="24" y="5"/>
                  <a:pt x="14" y="14"/>
                </a:cubicBezTo>
                <a:cubicBezTo>
                  <a:pt x="5" y="24"/>
                  <a:pt x="0" y="36"/>
                  <a:pt x="0" y="50"/>
                </a:cubicBezTo>
                <a:cubicBezTo>
                  <a:pt x="0" y="64"/>
                  <a:pt x="5" y="77"/>
                  <a:pt x="14" y="86"/>
                </a:cubicBezTo>
                <a:cubicBezTo>
                  <a:pt x="24" y="95"/>
                  <a:pt x="37" y="101"/>
                  <a:pt x="51" y="101"/>
                </a:cubicBezTo>
                <a:close/>
              </a:path>
            </a:pathLst>
          </a:custGeom>
          <a:solidFill>
            <a:srgbClr val="a3adb8"/>
          </a:solidFill>
          <a:ln w="12600">
            <a:solidFill>
              <a:srgbClr val="a3adb8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965960" y="6397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1" y="101"/>
                </a:moveTo>
                <a:cubicBezTo>
                  <a:pt x="64" y="101"/>
                  <a:pt x="77" y="95"/>
                  <a:pt x="86" y="86"/>
                </a:cubicBezTo>
                <a:cubicBezTo>
                  <a:pt x="96" y="77"/>
                  <a:pt x="101" y="64"/>
                  <a:pt x="101" y="50"/>
                </a:cubicBezTo>
                <a:cubicBezTo>
                  <a:pt x="101" y="36"/>
                  <a:pt x="96" y="24"/>
                  <a:pt x="86" y="14"/>
                </a:cubicBezTo>
                <a:cubicBezTo>
                  <a:pt x="77" y="5"/>
                  <a:pt x="64" y="0"/>
                  <a:pt x="51" y="0"/>
                </a:cubicBezTo>
                <a:cubicBezTo>
                  <a:pt x="38" y="0"/>
                  <a:pt x="24" y="5"/>
                  <a:pt x="15" y="14"/>
                </a:cubicBezTo>
                <a:cubicBezTo>
                  <a:pt x="5" y="24"/>
                  <a:pt x="0" y="36"/>
                  <a:pt x="0" y="50"/>
                </a:cubicBezTo>
                <a:cubicBezTo>
                  <a:pt x="0" y="64"/>
                  <a:pt x="5" y="77"/>
                  <a:pt x="15" y="86"/>
                </a:cubicBezTo>
                <a:cubicBezTo>
                  <a:pt x="24" y="95"/>
                  <a:pt x="38" y="101"/>
                  <a:pt x="51" y="101"/>
                </a:cubicBezTo>
                <a:close/>
              </a:path>
            </a:pathLst>
          </a:custGeom>
          <a:solidFill>
            <a:srgbClr val="a3adb8"/>
          </a:solidFill>
          <a:ln w="12600">
            <a:solidFill>
              <a:srgbClr val="a3adb8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544120" y="63972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50" y="101"/>
                </a:moveTo>
                <a:cubicBezTo>
                  <a:pt x="64" y="101"/>
                  <a:pt x="76" y="95"/>
                  <a:pt x="86" y="86"/>
                </a:cubicBezTo>
                <a:cubicBezTo>
                  <a:pt x="95" y="77"/>
                  <a:pt x="100" y="64"/>
                  <a:pt x="100" y="50"/>
                </a:cubicBezTo>
                <a:cubicBezTo>
                  <a:pt x="100" y="36"/>
                  <a:pt x="95" y="24"/>
                  <a:pt x="86" y="14"/>
                </a:cubicBezTo>
                <a:cubicBezTo>
                  <a:pt x="76" y="5"/>
                  <a:pt x="64" y="0"/>
                  <a:pt x="50" y="0"/>
                </a:cubicBezTo>
                <a:cubicBezTo>
                  <a:pt x="37" y="0"/>
                  <a:pt x="25" y="5"/>
                  <a:pt x="15" y="14"/>
                </a:cubicBezTo>
                <a:cubicBezTo>
                  <a:pt x="5" y="24"/>
                  <a:pt x="0" y="36"/>
                  <a:pt x="0" y="50"/>
                </a:cubicBezTo>
                <a:cubicBezTo>
                  <a:pt x="0" y="64"/>
                  <a:pt x="5" y="77"/>
                  <a:pt x="15" y="86"/>
                </a:cubicBezTo>
                <a:cubicBezTo>
                  <a:pt x="25" y="95"/>
                  <a:pt x="37" y="101"/>
                  <a:pt x="50" y="101"/>
                </a:cubicBezTo>
                <a:close/>
              </a:path>
            </a:pathLst>
          </a:custGeom>
          <a:solidFill>
            <a:srgbClr val="a3adb8"/>
          </a:solidFill>
          <a:ln w="12600">
            <a:solidFill>
              <a:srgbClr val="a3adb8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209320" y="63972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0" y="101"/>
                </a:moveTo>
                <a:cubicBezTo>
                  <a:pt x="64" y="101"/>
                  <a:pt x="77" y="95"/>
                  <a:pt x="86" y="86"/>
                </a:cubicBezTo>
                <a:cubicBezTo>
                  <a:pt x="95" y="77"/>
                  <a:pt x="101" y="64"/>
                  <a:pt x="101" y="50"/>
                </a:cubicBezTo>
                <a:cubicBezTo>
                  <a:pt x="101" y="36"/>
                  <a:pt x="95" y="24"/>
                  <a:pt x="86" y="14"/>
                </a:cubicBezTo>
                <a:cubicBezTo>
                  <a:pt x="77" y="5"/>
                  <a:pt x="64" y="0"/>
                  <a:pt x="50" y="0"/>
                </a:cubicBezTo>
                <a:cubicBezTo>
                  <a:pt x="37" y="0"/>
                  <a:pt x="24" y="5"/>
                  <a:pt x="14" y="14"/>
                </a:cubicBezTo>
                <a:cubicBezTo>
                  <a:pt x="5" y="24"/>
                  <a:pt x="0" y="36"/>
                  <a:pt x="0" y="50"/>
                </a:cubicBezTo>
                <a:cubicBezTo>
                  <a:pt x="0" y="64"/>
                  <a:pt x="5" y="77"/>
                  <a:pt x="14" y="86"/>
                </a:cubicBezTo>
                <a:cubicBezTo>
                  <a:pt x="24" y="95"/>
                  <a:pt x="37" y="101"/>
                  <a:pt x="50" y="101"/>
                </a:cubicBezTo>
                <a:close/>
              </a:path>
            </a:pathLst>
          </a:custGeom>
          <a:solidFill>
            <a:srgbClr val="a3adb8"/>
          </a:solidFill>
          <a:ln w="12600">
            <a:solidFill>
              <a:srgbClr val="a3adb8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683720" y="184320"/>
            <a:ext cx="2736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30" spc="-1" strike="noStrike">
                <a:solidFill>
                  <a:srgbClr val="52514e"/>
                </a:solidFill>
                <a:latin typeface="NimbusRoman"/>
                <a:ea typeface="NimbusRoman"/>
              </a:rPr>
              <a:t>CFR &lt; 1</a:t>
            </a:r>
            <a:endParaRPr b="0" lang="en-US" sz="6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683720" y="513000"/>
            <a:ext cx="3056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30" spc="-1" strike="noStrike">
                <a:solidFill>
                  <a:srgbClr val="52514e"/>
                </a:solidFill>
                <a:latin typeface="NimbusRoman"/>
                <a:ea typeface="NimbusRoman"/>
              </a:rPr>
              <a:t>exposure </a:t>
            </a:r>
            <a:endParaRPr b="0" lang="en-US" sz="6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012040" y="523440"/>
            <a:ext cx="40680" cy="47520"/>
          </a:xfrm>
          <a:custGeom>
            <a:avLst/>
            <a:gdLst/>
            <a:ahLst/>
            <a:rect l="0" t="0" r="r" b="b"/>
            <a:pathLst>
              <a:path w="113" h="132">
                <a:moveTo>
                  <a:pt x="30" y="98"/>
                </a:moveTo>
                <a:lnTo>
                  <a:pt x="17" y="124"/>
                </a:lnTo>
                <a:lnTo>
                  <a:pt x="33" y="132"/>
                </a:lnTo>
                <a:lnTo>
                  <a:pt x="50" y="98"/>
                </a:lnTo>
                <a:lnTo>
                  <a:pt x="113" y="98"/>
                </a:lnTo>
                <a:lnTo>
                  <a:pt x="113" y="80"/>
                </a:lnTo>
                <a:lnTo>
                  <a:pt x="59" y="80"/>
                </a:lnTo>
                <a:lnTo>
                  <a:pt x="74" y="52"/>
                </a:lnTo>
                <a:lnTo>
                  <a:pt x="113" y="52"/>
                </a:lnTo>
                <a:lnTo>
                  <a:pt x="113" y="34"/>
                </a:lnTo>
                <a:lnTo>
                  <a:pt x="83" y="34"/>
                </a:lnTo>
                <a:lnTo>
                  <a:pt x="96" y="8"/>
                </a:lnTo>
                <a:lnTo>
                  <a:pt x="80" y="0"/>
                </a:lnTo>
                <a:lnTo>
                  <a:pt x="62" y="34"/>
                </a:lnTo>
                <a:lnTo>
                  <a:pt x="0" y="34"/>
                </a:lnTo>
                <a:lnTo>
                  <a:pt x="0" y="52"/>
                </a:lnTo>
                <a:lnTo>
                  <a:pt x="53" y="52"/>
                </a:lnTo>
                <a:lnTo>
                  <a:pt x="40" y="80"/>
                </a:lnTo>
                <a:lnTo>
                  <a:pt x="0" y="80"/>
                </a:lnTo>
                <a:lnTo>
                  <a:pt x="0" y="98"/>
                </a:lnTo>
                <a:lnTo>
                  <a:pt x="30" y="98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548440" y="968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0" y="101"/>
                </a:moveTo>
                <a:cubicBezTo>
                  <a:pt x="63" y="101"/>
                  <a:pt x="76" y="96"/>
                  <a:pt x="85" y="87"/>
                </a:cubicBezTo>
                <a:cubicBezTo>
                  <a:pt x="94" y="77"/>
                  <a:pt x="101" y="65"/>
                  <a:pt x="101" y="51"/>
                </a:cubicBezTo>
                <a:cubicBezTo>
                  <a:pt x="101" y="38"/>
                  <a:pt x="94" y="24"/>
                  <a:pt x="85" y="15"/>
                </a:cubicBezTo>
                <a:cubicBezTo>
                  <a:pt x="76" y="6"/>
                  <a:pt x="63" y="0"/>
                  <a:pt x="50" y="0"/>
                </a:cubicBezTo>
                <a:cubicBezTo>
                  <a:pt x="36" y="0"/>
                  <a:pt x="24" y="6"/>
                  <a:pt x="14" y="15"/>
                </a:cubicBezTo>
                <a:cubicBezTo>
                  <a:pt x="5" y="24"/>
                  <a:pt x="0" y="38"/>
                  <a:pt x="0" y="51"/>
                </a:cubicBezTo>
                <a:cubicBezTo>
                  <a:pt x="0" y="65"/>
                  <a:pt x="5" y="77"/>
                  <a:pt x="14" y="87"/>
                </a:cubicBezTo>
                <a:cubicBezTo>
                  <a:pt x="24" y="96"/>
                  <a:pt x="36" y="101"/>
                  <a:pt x="50" y="101"/>
                </a:cubicBezTo>
                <a:close/>
              </a:path>
            </a:pathLst>
          </a:custGeom>
          <a:solidFill>
            <a:srgbClr val="0b0b14"/>
          </a:solidFill>
          <a:ln w="12600">
            <a:solidFill>
              <a:srgbClr val="0b0b1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308680" y="968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0" y="101"/>
                </a:moveTo>
                <a:cubicBezTo>
                  <a:pt x="63" y="101"/>
                  <a:pt x="77" y="96"/>
                  <a:pt x="86" y="87"/>
                </a:cubicBezTo>
                <a:cubicBezTo>
                  <a:pt x="95" y="77"/>
                  <a:pt x="101" y="65"/>
                  <a:pt x="101" y="51"/>
                </a:cubicBezTo>
                <a:cubicBezTo>
                  <a:pt x="101" y="38"/>
                  <a:pt x="95" y="24"/>
                  <a:pt x="86" y="15"/>
                </a:cubicBezTo>
                <a:cubicBezTo>
                  <a:pt x="77" y="6"/>
                  <a:pt x="63" y="0"/>
                  <a:pt x="50" y="0"/>
                </a:cubicBezTo>
                <a:cubicBezTo>
                  <a:pt x="37" y="0"/>
                  <a:pt x="24" y="6"/>
                  <a:pt x="15" y="15"/>
                </a:cubicBezTo>
                <a:cubicBezTo>
                  <a:pt x="5" y="24"/>
                  <a:pt x="0" y="38"/>
                  <a:pt x="0" y="51"/>
                </a:cubicBezTo>
                <a:cubicBezTo>
                  <a:pt x="0" y="65"/>
                  <a:pt x="5" y="77"/>
                  <a:pt x="15" y="87"/>
                </a:cubicBezTo>
                <a:cubicBezTo>
                  <a:pt x="24" y="96"/>
                  <a:pt x="37" y="101"/>
                  <a:pt x="50" y="101"/>
                </a:cubicBezTo>
                <a:close/>
              </a:path>
            </a:pathLst>
          </a:custGeom>
          <a:solidFill>
            <a:srgbClr val="0b0b14"/>
          </a:solidFill>
          <a:ln w="12600">
            <a:solidFill>
              <a:srgbClr val="0b0b1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166120" y="968040"/>
            <a:ext cx="36360" cy="36360"/>
          </a:xfrm>
          <a:custGeom>
            <a:avLst/>
            <a:gdLst/>
            <a:ahLst/>
            <a:rect l="0" t="0" r="r" b="b"/>
            <a:pathLst>
              <a:path w="101" h="101">
                <a:moveTo>
                  <a:pt x="50" y="101"/>
                </a:moveTo>
                <a:cubicBezTo>
                  <a:pt x="63" y="101"/>
                  <a:pt x="77" y="96"/>
                  <a:pt x="86" y="87"/>
                </a:cubicBezTo>
                <a:cubicBezTo>
                  <a:pt x="96" y="77"/>
                  <a:pt x="101" y="65"/>
                  <a:pt x="101" y="51"/>
                </a:cubicBezTo>
                <a:cubicBezTo>
                  <a:pt x="101" y="38"/>
                  <a:pt x="96" y="24"/>
                  <a:pt x="86" y="15"/>
                </a:cubicBezTo>
                <a:cubicBezTo>
                  <a:pt x="77" y="6"/>
                  <a:pt x="63" y="0"/>
                  <a:pt x="50" y="0"/>
                </a:cubicBezTo>
                <a:cubicBezTo>
                  <a:pt x="37" y="0"/>
                  <a:pt x="24" y="6"/>
                  <a:pt x="15" y="15"/>
                </a:cubicBezTo>
                <a:cubicBezTo>
                  <a:pt x="5" y="24"/>
                  <a:pt x="0" y="38"/>
                  <a:pt x="0" y="51"/>
                </a:cubicBezTo>
                <a:cubicBezTo>
                  <a:pt x="0" y="65"/>
                  <a:pt x="5" y="77"/>
                  <a:pt x="15" y="87"/>
                </a:cubicBezTo>
                <a:cubicBezTo>
                  <a:pt x="24" y="96"/>
                  <a:pt x="37" y="101"/>
                  <a:pt x="50" y="101"/>
                </a:cubicBezTo>
                <a:close/>
              </a:path>
            </a:pathLst>
          </a:custGeom>
          <a:solidFill>
            <a:srgbClr val="0b0b14"/>
          </a:solidFill>
          <a:ln w="12600">
            <a:solidFill>
              <a:srgbClr val="0b0b1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330640" y="9680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51" y="101"/>
                </a:moveTo>
                <a:cubicBezTo>
                  <a:pt x="64" y="101"/>
                  <a:pt x="76" y="96"/>
                  <a:pt x="86" y="87"/>
                </a:cubicBezTo>
                <a:cubicBezTo>
                  <a:pt x="95" y="77"/>
                  <a:pt x="100" y="65"/>
                  <a:pt x="100" y="51"/>
                </a:cubicBezTo>
                <a:cubicBezTo>
                  <a:pt x="100" y="38"/>
                  <a:pt x="95" y="24"/>
                  <a:pt x="86" y="15"/>
                </a:cubicBezTo>
                <a:cubicBezTo>
                  <a:pt x="76" y="6"/>
                  <a:pt x="64" y="0"/>
                  <a:pt x="51" y="0"/>
                </a:cubicBezTo>
                <a:cubicBezTo>
                  <a:pt x="37" y="0"/>
                  <a:pt x="25" y="6"/>
                  <a:pt x="15" y="15"/>
                </a:cubicBezTo>
                <a:cubicBezTo>
                  <a:pt x="5" y="24"/>
                  <a:pt x="0" y="38"/>
                  <a:pt x="0" y="51"/>
                </a:cubicBezTo>
                <a:cubicBezTo>
                  <a:pt x="0" y="65"/>
                  <a:pt x="5" y="77"/>
                  <a:pt x="15" y="87"/>
                </a:cubicBezTo>
                <a:cubicBezTo>
                  <a:pt x="25" y="96"/>
                  <a:pt x="37" y="101"/>
                  <a:pt x="51" y="101"/>
                </a:cubicBezTo>
                <a:close/>
              </a:path>
            </a:pathLst>
          </a:custGeom>
          <a:solidFill>
            <a:srgbClr val="0b0b14"/>
          </a:solidFill>
          <a:ln w="12600">
            <a:solidFill>
              <a:srgbClr val="0b0b1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576160" y="968040"/>
            <a:ext cx="36000" cy="36360"/>
          </a:xfrm>
          <a:custGeom>
            <a:avLst/>
            <a:gdLst/>
            <a:ahLst/>
            <a:rect l="0" t="0" r="r" b="b"/>
            <a:pathLst>
              <a:path w="100" h="101">
                <a:moveTo>
                  <a:pt x="50" y="101"/>
                </a:moveTo>
                <a:cubicBezTo>
                  <a:pt x="64" y="101"/>
                  <a:pt x="76" y="96"/>
                  <a:pt x="86" y="87"/>
                </a:cubicBezTo>
                <a:cubicBezTo>
                  <a:pt x="95" y="77"/>
                  <a:pt x="100" y="65"/>
                  <a:pt x="100" y="51"/>
                </a:cubicBezTo>
                <a:cubicBezTo>
                  <a:pt x="100" y="38"/>
                  <a:pt x="95" y="24"/>
                  <a:pt x="86" y="15"/>
                </a:cubicBezTo>
                <a:cubicBezTo>
                  <a:pt x="76" y="6"/>
                  <a:pt x="64" y="0"/>
                  <a:pt x="50" y="0"/>
                </a:cubicBezTo>
                <a:cubicBezTo>
                  <a:pt x="37" y="0"/>
                  <a:pt x="24" y="6"/>
                  <a:pt x="14" y="15"/>
                </a:cubicBezTo>
                <a:cubicBezTo>
                  <a:pt x="5" y="24"/>
                  <a:pt x="0" y="38"/>
                  <a:pt x="0" y="51"/>
                </a:cubicBezTo>
                <a:cubicBezTo>
                  <a:pt x="0" y="65"/>
                  <a:pt x="5" y="77"/>
                  <a:pt x="14" y="87"/>
                </a:cubicBezTo>
                <a:cubicBezTo>
                  <a:pt x="24" y="96"/>
                  <a:pt x="37" y="101"/>
                  <a:pt x="50" y="101"/>
                </a:cubicBezTo>
                <a:close/>
              </a:path>
            </a:pathLst>
          </a:custGeom>
          <a:solidFill>
            <a:srgbClr val="0b0b14"/>
          </a:solidFill>
          <a:ln w="12600">
            <a:solidFill>
              <a:srgbClr val="0b0b14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670480" y="966240"/>
            <a:ext cx="40680" cy="40320"/>
          </a:xfrm>
          <a:custGeom>
            <a:avLst/>
            <a:gdLst/>
            <a:ahLst/>
            <a:rect l="0" t="0" r="r" b="b"/>
            <a:pathLst>
              <a:path w="113" h="112">
                <a:moveTo>
                  <a:pt x="113" y="56"/>
                </a:moveTo>
                <a:lnTo>
                  <a:pt x="0" y="0"/>
                </a:lnTo>
                <a:lnTo>
                  <a:pt x="0" y="112"/>
                </a:lnTo>
                <a:lnTo>
                  <a:pt x="113" y="56"/>
                </a:lnTo>
                <a:close/>
              </a:path>
            </a:pathLst>
          </a:custGeom>
          <a:solidFill>
            <a:srgbClr val="ffffff"/>
          </a:solidFill>
          <a:ln w="10080">
            <a:solidFill>
              <a:srgbClr val="0b0b14"/>
            </a:solidFill>
            <a:round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2072520" y="513000"/>
            <a:ext cx="2354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30" spc="-1" strike="noStrike">
                <a:solidFill>
                  <a:srgbClr val="52514e"/>
                </a:solidFill>
                <a:latin typeface="NimbusRoman"/>
                <a:ea typeface="NimbusRoman"/>
              </a:rPr>
              <a:t> </a:t>
            </a:r>
            <a:r>
              <a:rPr b="0" lang="en-US" sz="630" spc="-1" strike="noStrike">
                <a:solidFill>
                  <a:srgbClr val="52514e"/>
                </a:solidFill>
                <a:latin typeface="NimbusRoman"/>
                <a:ea typeface="NimbusRoman"/>
              </a:rPr>
              <a:t>human</a:t>
            </a:r>
            <a:endParaRPr b="0" lang="en-US" sz="6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683720" y="841320"/>
            <a:ext cx="1209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30" spc="-1" strike="noStrike">
                <a:solidFill>
                  <a:srgbClr val="52514e"/>
                </a:solidFill>
                <a:latin typeface="NimbusRoman"/>
                <a:ea typeface="NimbusRoman"/>
              </a:rPr>
              <a:t>HS </a:t>
            </a:r>
            <a:endParaRPr b="0" lang="en-US" sz="6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825560" y="852120"/>
            <a:ext cx="40680" cy="47520"/>
          </a:xfrm>
          <a:custGeom>
            <a:avLst/>
            <a:gdLst/>
            <a:ahLst/>
            <a:rect l="0" t="0" r="r" b="b"/>
            <a:pathLst>
              <a:path w="113" h="132">
                <a:moveTo>
                  <a:pt x="31" y="98"/>
                </a:moveTo>
                <a:lnTo>
                  <a:pt x="17" y="124"/>
                </a:lnTo>
                <a:lnTo>
                  <a:pt x="34" y="132"/>
                </a:lnTo>
                <a:lnTo>
                  <a:pt x="51" y="98"/>
                </a:lnTo>
                <a:lnTo>
                  <a:pt x="113" y="98"/>
                </a:lnTo>
                <a:lnTo>
                  <a:pt x="113" y="80"/>
                </a:lnTo>
                <a:lnTo>
                  <a:pt x="60" y="80"/>
                </a:lnTo>
                <a:lnTo>
                  <a:pt x="74" y="52"/>
                </a:lnTo>
                <a:lnTo>
                  <a:pt x="113" y="52"/>
                </a:lnTo>
                <a:lnTo>
                  <a:pt x="113" y="34"/>
                </a:lnTo>
                <a:lnTo>
                  <a:pt x="83" y="34"/>
                </a:lnTo>
                <a:lnTo>
                  <a:pt x="96" y="8"/>
                </a:lnTo>
                <a:lnTo>
                  <a:pt x="80" y="0"/>
                </a:lnTo>
                <a:lnTo>
                  <a:pt x="63" y="34"/>
                </a:lnTo>
                <a:lnTo>
                  <a:pt x="0" y="34"/>
                </a:lnTo>
                <a:lnTo>
                  <a:pt x="0" y="52"/>
                </a:lnTo>
                <a:lnTo>
                  <a:pt x="54" y="52"/>
                </a:lnTo>
                <a:lnTo>
                  <a:pt x="41" y="80"/>
                </a:lnTo>
                <a:lnTo>
                  <a:pt x="0" y="80"/>
                </a:lnTo>
                <a:lnTo>
                  <a:pt x="0" y="98"/>
                </a:lnTo>
                <a:lnTo>
                  <a:pt x="31" y="98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886040" y="841320"/>
            <a:ext cx="795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30" spc="-1" strike="noStrike">
                <a:solidFill>
                  <a:srgbClr val="52514e"/>
                </a:solidFill>
                <a:latin typeface="NimbusRoman"/>
                <a:ea typeface="NimbusRoman"/>
              </a:rPr>
              <a:t> </a:t>
            </a:r>
            <a:r>
              <a:rPr b="0" lang="en-US" sz="63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6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369360" y="1365840"/>
            <a:ext cx="76320" cy="0"/>
          </a:xfrm>
          <a:custGeom>
            <a:avLst/>
            <a:gdLst/>
            <a:ahLst/>
            <a:rect l="0" t="0" r="r" b="b"/>
            <a:pathLst>
              <a:path fill="none" w="212" h="0">
                <a:moveTo>
                  <a:pt x="0" y="0"/>
                </a:moveTo>
                <a:lnTo>
                  <a:pt x="106" y="0"/>
                </a:lnTo>
                <a:lnTo>
                  <a:pt x="212" y="0"/>
                </a:lnTo>
              </a:path>
            </a:pathLst>
          </a:custGeom>
          <a:ln cap="sq" w="13680">
            <a:solidFill>
              <a:srgbClr val="a3adb8"/>
            </a:solidFill>
            <a:round/>
          </a:ln>
        </p:spPr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670040" y="18000"/>
            <a:ext cx="10126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000000"/>
                </a:solidFill>
                <a:latin typeface="NimbusRoman"/>
                <a:ea typeface="NimbusRoman"/>
              </a:rPr>
              <a:t>(b) driving a verdict needs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827640" y="1365840"/>
            <a:ext cx="75960" cy="0"/>
          </a:xfrm>
          <a:custGeom>
            <a:avLst/>
            <a:gdLst/>
            <a:ahLst/>
            <a:rect l="0" t="0" r="r" b="b"/>
            <a:pathLst>
              <a:path fill="none" w="211" h="0">
                <a:moveTo>
                  <a:pt x="0" y="0"/>
                </a:moveTo>
                <a:lnTo>
                  <a:pt x="106" y="0"/>
                </a:lnTo>
                <a:lnTo>
                  <a:pt x="211" y="0"/>
                </a:lnTo>
              </a:path>
            </a:pathLst>
          </a:custGeom>
          <a:ln cap="sq" w="13680">
            <a:solidFill>
              <a:srgbClr val="8fd3f4"/>
            </a:solidFill>
            <a:round/>
          </a:ln>
        </p:spPr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76280" y="1340640"/>
            <a:ext cx="275040" cy="7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NimbusRoman"/>
                <a:ea typeface="NimbusRoman"/>
              </a:rPr>
              <a:t>exposure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410840" y="1365840"/>
            <a:ext cx="76320" cy="0"/>
          </a:xfrm>
          <a:custGeom>
            <a:avLst/>
            <a:gdLst/>
            <a:ahLst/>
            <a:rect l="0" t="0" r="r" b="b"/>
            <a:pathLst>
              <a:path fill="none" w="212" h="0">
                <a:moveTo>
                  <a:pt x="0" y="0"/>
                </a:moveTo>
                <a:lnTo>
                  <a:pt x="106" y="0"/>
                </a:lnTo>
                <a:lnTo>
                  <a:pt x="212" y="0"/>
                </a:lnTo>
              </a:path>
            </a:pathLst>
          </a:custGeom>
          <a:ln cap="sq" w="13680">
            <a:solidFill>
              <a:srgbClr val="2a6fb0"/>
            </a:solidFill>
            <a:round/>
          </a:ln>
        </p:spPr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934560" y="1340640"/>
            <a:ext cx="399960" cy="7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NimbusRoman"/>
                <a:ea typeface="NimbusRoman"/>
              </a:rPr>
              <a:t>lighting CFR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911600" y="1365840"/>
            <a:ext cx="76320" cy="0"/>
          </a:xfrm>
          <a:custGeom>
            <a:avLst/>
            <a:gdLst/>
            <a:ahLst/>
            <a:rect l="0" t="0" r="r" b="b"/>
            <a:pathLst>
              <a:path fill="none" w="212" h="0">
                <a:moveTo>
                  <a:pt x="0" y="0"/>
                </a:moveTo>
                <a:lnTo>
                  <a:pt x="106" y="0"/>
                </a:lnTo>
                <a:lnTo>
                  <a:pt x="212" y="0"/>
                </a:lnTo>
              </a:path>
            </a:pathLst>
          </a:custGeom>
          <a:ln cap="sq" w="13680">
            <a:solidFill>
              <a:srgbClr val="0b0b14"/>
            </a:solidFill>
            <a:round/>
          </a:ln>
        </p:spPr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517760" y="1340640"/>
            <a:ext cx="313200" cy="7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NimbusRoman"/>
                <a:ea typeface="NimbusRoman"/>
              </a:rPr>
              <a:t>specificity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018520" y="1340640"/>
            <a:ext cx="535680" cy="76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NimbusRoman"/>
                <a:ea typeface="NimbusRoman"/>
              </a:rPr>
              <a:t>hazard sensitivity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