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6546850" cy="1363663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27240" y="-189000"/>
            <a:ext cx="58917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327240" y="234720"/>
            <a:ext cx="5891760" cy="58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6547320" cy="1364040"/>
          </a:xfrm>
          <a:custGeom>
            <a:avLst/>
            <a:gdLst/>
            <a:ahLst/>
            <a:rect l="0" t="0" r="r" b="b"/>
            <a:pathLst>
              <a:path w="18187" h="3789">
                <a:moveTo>
                  <a:pt x="0" y="3789"/>
                </a:moveTo>
                <a:lnTo>
                  <a:pt x="18187" y="3789"/>
                </a:lnTo>
                <a:lnTo>
                  <a:pt x="18187" y="0"/>
                </a:lnTo>
                <a:lnTo>
                  <a:pt x="0" y="0"/>
                </a:lnTo>
                <a:lnTo>
                  <a:pt x="0" y="378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"/>
          <p:cNvSpPr/>
          <p:nvPr/>
        </p:nvSpPr>
        <p:spPr>
          <a:xfrm>
            <a:off x="27360" y="9000"/>
            <a:ext cx="896400" cy="1346040"/>
          </a:xfrm>
          <a:custGeom>
            <a:avLst/>
            <a:gdLst/>
            <a:ahLst/>
            <a:rect l="0" t="0" r="r" b="b"/>
            <a:pathLst>
              <a:path w="2490" h="3739">
                <a:moveTo>
                  <a:pt x="218" y="3739"/>
                </a:moveTo>
                <a:lnTo>
                  <a:pt x="2272" y="3739"/>
                </a:lnTo>
                <a:cubicBezTo>
                  <a:pt x="2417" y="3739"/>
                  <a:pt x="2490" y="3723"/>
                  <a:pt x="2490" y="3693"/>
                </a:cubicBezTo>
                <a:lnTo>
                  <a:pt x="2490" y="45"/>
                </a:lnTo>
                <a:cubicBezTo>
                  <a:pt x="2490" y="15"/>
                  <a:pt x="2417" y="0"/>
                  <a:pt x="2272" y="0"/>
                </a:cubicBezTo>
                <a:lnTo>
                  <a:pt x="218" y="0"/>
                </a:lnTo>
                <a:cubicBezTo>
                  <a:pt x="72" y="0"/>
                  <a:pt x="0" y="15"/>
                  <a:pt x="0" y="45"/>
                </a:cubicBezTo>
                <a:lnTo>
                  <a:pt x="0" y="3693"/>
                </a:lnTo>
                <a:cubicBezTo>
                  <a:pt x="0" y="3723"/>
                  <a:pt x="72" y="3739"/>
                  <a:pt x="218" y="3739"/>
                </a:cubicBezTo>
                <a:close/>
              </a:path>
            </a:pathLst>
          </a:custGeom>
          <a:solidFill>
            <a:srgbClr val="ffffff"/>
          </a:solidFill>
          <a:ln w="10080">
            <a:solidFill>
              <a:srgbClr val="b7c6d8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"/>
          <p:cNvSpPr/>
          <p:nvPr/>
        </p:nvSpPr>
        <p:spPr>
          <a:xfrm>
            <a:off x="1161000" y="9000"/>
            <a:ext cx="2286720" cy="1346040"/>
          </a:xfrm>
          <a:custGeom>
            <a:avLst/>
            <a:gdLst/>
            <a:ahLst/>
            <a:rect l="0" t="0" r="r" b="b"/>
            <a:pathLst>
              <a:path w="6352" h="3739">
                <a:moveTo>
                  <a:pt x="219" y="3739"/>
                </a:moveTo>
                <a:lnTo>
                  <a:pt x="6134" y="3739"/>
                </a:lnTo>
                <a:cubicBezTo>
                  <a:pt x="6280" y="3739"/>
                  <a:pt x="6352" y="3723"/>
                  <a:pt x="6352" y="3693"/>
                </a:cubicBezTo>
                <a:lnTo>
                  <a:pt x="6352" y="45"/>
                </a:lnTo>
                <a:cubicBezTo>
                  <a:pt x="6352" y="15"/>
                  <a:pt x="6280" y="0"/>
                  <a:pt x="6134" y="0"/>
                </a:cubicBezTo>
                <a:lnTo>
                  <a:pt x="219" y="0"/>
                </a:lnTo>
                <a:cubicBezTo>
                  <a:pt x="73" y="0"/>
                  <a:pt x="0" y="15"/>
                  <a:pt x="0" y="45"/>
                </a:cubicBezTo>
                <a:lnTo>
                  <a:pt x="0" y="3693"/>
                </a:lnTo>
                <a:cubicBezTo>
                  <a:pt x="0" y="3723"/>
                  <a:pt x="73" y="3739"/>
                  <a:pt x="219" y="3739"/>
                </a:cubicBezTo>
                <a:close/>
              </a:path>
            </a:pathLst>
          </a:custGeom>
          <a:solidFill>
            <a:srgbClr val="ffffff"/>
          </a:solidFill>
          <a:ln w="10080">
            <a:solidFill>
              <a:srgbClr val="b7c6d8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3684960" y="9000"/>
            <a:ext cx="841320" cy="1346040"/>
          </a:xfrm>
          <a:custGeom>
            <a:avLst/>
            <a:gdLst/>
            <a:ahLst/>
            <a:rect l="0" t="0" r="r" b="b"/>
            <a:pathLst>
              <a:path w="2337" h="3739">
                <a:moveTo>
                  <a:pt x="218" y="3739"/>
                </a:moveTo>
                <a:lnTo>
                  <a:pt x="2119" y="3739"/>
                </a:lnTo>
                <a:cubicBezTo>
                  <a:pt x="2265" y="3739"/>
                  <a:pt x="2337" y="3723"/>
                  <a:pt x="2337" y="3693"/>
                </a:cubicBezTo>
                <a:lnTo>
                  <a:pt x="2337" y="45"/>
                </a:lnTo>
                <a:cubicBezTo>
                  <a:pt x="2337" y="15"/>
                  <a:pt x="2265" y="0"/>
                  <a:pt x="2119" y="0"/>
                </a:cubicBezTo>
                <a:lnTo>
                  <a:pt x="218" y="0"/>
                </a:lnTo>
                <a:cubicBezTo>
                  <a:pt x="72" y="0"/>
                  <a:pt x="0" y="15"/>
                  <a:pt x="0" y="45"/>
                </a:cubicBezTo>
                <a:lnTo>
                  <a:pt x="0" y="3693"/>
                </a:lnTo>
                <a:cubicBezTo>
                  <a:pt x="0" y="3723"/>
                  <a:pt x="72" y="3739"/>
                  <a:pt x="218" y="3739"/>
                </a:cubicBezTo>
                <a:close/>
              </a:path>
            </a:pathLst>
          </a:custGeom>
          <a:solidFill>
            <a:srgbClr val="ffffff"/>
          </a:solidFill>
          <a:ln w="10080">
            <a:solidFill>
              <a:srgbClr val="b7c6d8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763880" y="9000"/>
            <a:ext cx="1756080" cy="1346040"/>
          </a:xfrm>
          <a:custGeom>
            <a:avLst/>
            <a:gdLst/>
            <a:ahLst/>
            <a:rect l="0" t="0" r="r" b="b"/>
            <a:pathLst>
              <a:path w="4878" h="3739">
                <a:moveTo>
                  <a:pt x="218" y="3739"/>
                </a:moveTo>
                <a:lnTo>
                  <a:pt x="4659" y="3739"/>
                </a:lnTo>
                <a:cubicBezTo>
                  <a:pt x="4805" y="3739"/>
                  <a:pt x="4878" y="3723"/>
                  <a:pt x="4878" y="3693"/>
                </a:cubicBezTo>
                <a:lnTo>
                  <a:pt x="4878" y="45"/>
                </a:lnTo>
                <a:cubicBezTo>
                  <a:pt x="4878" y="15"/>
                  <a:pt x="4805" y="0"/>
                  <a:pt x="4659" y="0"/>
                </a:cubicBezTo>
                <a:lnTo>
                  <a:pt x="218" y="0"/>
                </a:lnTo>
                <a:cubicBezTo>
                  <a:pt x="73" y="0"/>
                  <a:pt x="0" y="15"/>
                  <a:pt x="0" y="45"/>
                </a:cubicBezTo>
                <a:lnTo>
                  <a:pt x="0" y="3693"/>
                </a:lnTo>
                <a:cubicBezTo>
                  <a:pt x="0" y="3723"/>
                  <a:pt x="73" y="3739"/>
                  <a:pt x="218" y="3739"/>
                </a:cubicBezTo>
                <a:close/>
              </a:path>
            </a:pathLst>
          </a:custGeom>
          <a:solidFill>
            <a:srgbClr val="ffffff"/>
          </a:solidFill>
          <a:ln w="10080">
            <a:solidFill>
              <a:srgbClr val="b7c6d8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941760" y="750240"/>
            <a:ext cx="179640" cy="0"/>
          </a:xfrm>
          <a:custGeom>
            <a:avLst/>
            <a:gdLst/>
            <a:ahLst/>
            <a:rect l="0" t="0" r="r" b="b"/>
            <a:pathLst>
              <a:path fill="none" w="499" h="0">
                <a:moveTo>
                  <a:pt x="0" y="0"/>
                </a:moveTo>
                <a:cubicBezTo>
                  <a:pt x="186" y="0"/>
                  <a:pt x="353" y="0"/>
                  <a:pt x="499" y="0"/>
                </a:cubicBezTo>
              </a:path>
            </a:pathLst>
          </a:custGeom>
          <a:ln cap="rnd" w="18720">
            <a:solidFill>
              <a:srgbClr val="2f5d94"/>
            </a:solidFill>
            <a:round/>
          </a:ln>
        </p:spPr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1091160" y="735120"/>
            <a:ext cx="30600" cy="30960"/>
          </a:xfrm>
          <a:custGeom>
            <a:avLst/>
            <a:gdLst/>
            <a:ahLst/>
            <a:rect l="0" t="0" r="r" b="b"/>
            <a:pathLst>
              <a:path w="85" h="86">
                <a:moveTo>
                  <a:pt x="0" y="0"/>
                </a:moveTo>
                <a:lnTo>
                  <a:pt x="85" y="43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2f5d94"/>
          </a:solidFill>
          <a:ln cap="rnd" w="18720">
            <a:solidFill>
              <a:srgbClr val="2f5d94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64080" y="46080"/>
            <a:ext cx="549360" cy="8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2b2b28"/>
                </a:solidFill>
                <a:latin typeface="NimbusRoman"/>
                <a:ea typeface="NimbusRoman"/>
              </a:rPr>
              <a:t>(a) paired data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921600" y="590760"/>
            <a:ext cx="142560" cy="56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40" spc="-1" strike="noStrike">
                <a:solidFill>
                  <a:srgbClr val="2f5d94"/>
                </a:solidFill>
                <a:latin typeface="NimbusRoman"/>
                <a:ea typeface="NimbusRoman"/>
              </a:rPr>
              <a:t>query </a:t>
            </a:r>
            <a:endParaRPr b="0" lang="en-US" sz="4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1063440" y="604800"/>
            <a:ext cx="29520" cy="25200"/>
          </a:xfrm>
          <a:custGeom>
            <a:avLst/>
            <a:gdLst/>
            <a:ahLst/>
            <a:rect l="0" t="0" r="r" b="b"/>
            <a:pathLst>
              <a:path w="82" h="70">
                <a:moveTo>
                  <a:pt x="82" y="0"/>
                </a:moveTo>
                <a:lnTo>
                  <a:pt x="78" y="13"/>
                </a:lnTo>
                <a:lnTo>
                  <a:pt x="62" y="13"/>
                </a:lnTo>
                <a:cubicBezTo>
                  <a:pt x="62" y="14"/>
                  <a:pt x="61" y="18"/>
                  <a:pt x="59" y="25"/>
                </a:cubicBezTo>
                <a:cubicBezTo>
                  <a:pt x="57" y="31"/>
                  <a:pt x="55" y="37"/>
                  <a:pt x="54" y="42"/>
                </a:cubicBezTo>
                <a:cubicBezTo>
                  <a:pt x="53" y="47"/>
                  <a:pt x="52" y="49"/>
                  <a:pt x="52" y="50"/>
                </a:cubicBezTo>
                <a:cubicBezTo>
                  <a:pt x="52" y="55"/>
                  <a:pt x="54" y="57"/>
                  <a:pt x="57" y="57"/>
                </a:cubicBezTo>
                <a:cubicBezTo>
                  <a:pt x="61" y="57"/>
                  <a:pt x="65" y="54"/>
                  <a:pt x="68" y="47"/>
                </a:cubicBezTo>
                <a:lnTo>
                  <a:pt x="70" y="47"/>
                </a:lnTo>
                <a:cubicBezTo>
                  <a:pt x="69" y="53"/>
                  <a:pt x="66" y="58"/>
                  <a:pt x="63" y="63"/>
                </a:cubicBezTo>
                <a:cubicBezTo>
                  <a:pt x="59" y="67"/>
                  <a:pt x="54" y="69"/>
                  <a:pt x="49" y="69"/>
                </a:cubicBezTo>
                <a:cubicBezTo>
                  <a:pt x="45" y="69"/>
                  <a:pt x="43" y="68"/>
                  <a:pt x="41" y="66"/>
                </a:cubicBezTo>
                <a:cubicBezTo>
                  <a:pt x="40" y="64"/>
                  <a:pt x="39" y="61"/>
                  <a:pt x="39" y="58"/>
                </a:cubicBezTo>
                <a:cubicBezTo>
                  <a:pt x="39" y="54"/>
                  <a:pt x="40" y="50"/>
                  <a:pt x="42" y="45"/>
                </a:cubicBezTo>
                <a:lnTo>
                  <a:pt x="54" y="13"/>
                </a:lnTo>
                <a:lnTo>
                  <a:pt x="37" y="13"/>
                </a:lnTo>
                <a:cubicBezTo>
                  <a:pt x="36" y="16"/>
                  <a:pt x="34" y="22"/>
                  <a:pt x="31" y="32"/>
                </a:cubicBezTo>
                <a:cubicBezTo>
                  <a:pt x="29" y="42"/>
                  <a:pt x="26" y="49"/>
                  <a:pt x="23" y="55"/>
                </a:cubicBezTo>
                <a:cubicBezTo>
                  <a:pt x="20" y="61"/>
                  <a:pt x="17" y="66"/>
                  <a:pt x="14" y="68"/>
                </a:cubicBezTo>
                <a:cubicBezTo>
                  <a:pt x="12" y="70"/>
                  <a:pt x="10" y="70"/>
                  <a:pt x="8" y="70"/>
                </a:cubicBezTo>
                <a:cubicBezTo>
                  <a:pt x="6" y="70"/>
                  <a:pt x="4" y="70"/>
                  <a:pt x="3" y="68"/>
                </a:cubicBezTo>
                <a:cubicBezTo>
                  <a:pt x="1" y="67"/>
                  <a:pt x="0" y="65"/>
                  <a:pt x="0" y="64"/>
                </a:cubicBezTo>
                <a:cubicBezTo>
                  <a:pt x="0" y="59"/>
                  <a:pt x="2" y="57"/>
                  <a:pt x="5" y="56"/>
                </a:cubicBezTo>
                <a:cubicBezTo>
                  <a:pt x="10" y="55"/>
                  <a:pt x="14" y="51"/>
                  <a:pt x="16" y="45"/>
                </a:cubicBezTo>
                <a:lnTo>
                  <a:pt x="29" y="13"/>
                </a:lnTo>
                <a:lnTo>
                  <a:pt x="28" y="13"/>
                </a:lnTo>
                <a:cubicBezTo>
                  <a:pt x="23" y="13"/>
                  <a:pt x="20" y="13"/>
                  <a:pt x="17" y="14"/>
                </a:cubicBezTo>
                <a:cubicBezTo>
                  <a:pt x="15" y="15"/>
                  <a:pt x="12" y="18"/>
                  <a:pt x="9" y="21"/>
                </a:cubicBezTo>
                <a:lnTo>
                  <a:pt x="6" y="21"/>
                </a:lnTo>
                <a:cubicBezTo>
                  <a:pt x="11" y="14"/>
                  <a:pt x="15" y="8"/>
                  <a:pt x="20" y="5"/>
                </a:cubicBezTo>
                <a:cubicBezTo>
                  <a:pt x="25" y="2"/>
                  <a:pt x="31" y="0"/>
                  <a:pt x="39" y="0"/>
                </a:cubicBezTo>
                <a:lnTo>
                  <a:pt x="82" y="0"/>
                </a:lnTo>
                <a:close/>
              </a:path>
            </a:pathLst>
          </a:custGeom>
          <a:solidFill>
            <a:srgbClr val="2f5d9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1090800" y="590760"/>
            <a:ext cx="70920" cy="56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40" spc="-1" strike="noStrike">
                <a:solidFill>
                  <a:srgbClr val="2f5d94"/>
                </a:solidFill>
                <a:latin typeface="NimbusRoman"/>
                <a:ea typeface="NimbusRoman"/>
              </a:rPr>
              <a:t> </a:t>
            </a:r>
            <a:r>
              <a:rPr b="0" lang="en-US" sz="440" spc="-1" strike="noStrike">
                <a:solidFill>
                  <a:srgbClr val="2f5d94"/>
                </a:solidFill>
                <a:latin typeface="NimbusRoman"/>
                <a:ea typeface="NimbusRoman"/>
              </a:rPr>
              <a:t>on</a:t>
            </a:r>
            <a:endParaRPr b="0" lang="en-US" sz="4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959760" y="632880"/>
            <a:ext cx="16668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440" spc="-1" strike="noStrike">
                <a:solidFill>
                  <a:srgbClr val="2f5d94"/>
                </a:solidFill>
                <a:latin typeface="STIXGeneral"/>
                <a:ea typeface="STIXGeneral"/>
              </a:rPr>
              <a:t>O</a:t>
            </a:r>
            <a:r>
              <a:rPr b="0" lang="en-US" sz="440" spc="-1" strike="noStrike">
                <a:solidFill>
                  <a:srgbClr val="2f5d94"/>
                </a:solidFill>
                <a:latin typeface="STIXGeneral"/>
                <a:ea typeface="STIXGeneral"/>
              </a:rPr>
              <a:t>,</a:t>
            </a:r>
            <a:r>
              <a:rPr b="0" i="1" lang="en-US" sz="440" spc="-1" strike="noStrike">
                <a:solidFill>
                  <a:srgbClr val="2f5d94"/>
                </a:solidFill>
                <a:latin typeface="STIXGeneral"/>
                <a:ea typeface="STIXGeneral"/>
              </a:rPr>
              <a:t> R</a:t>
            </a:r>
            <a:r>
              <a:rPr b="0" lang="en-US" sz="440" spc="-1" strike="noStrike">
                <a:solidFill>
                  <a:srgbClr val="2f5d94"/>
                </a:solidFill>
                <a:latin typeface="STIXGeneral"/>
                <a:ea typeface="STIXGeneral"/>
              </a:rPr>
              <a:t>,</a:t>
            </a:r>
            <a:r>
              <a:rPr b="0" i="1" lang="en-US" sz="440" spc="-1" strike="noStrike">
                <a:solidFill>
                  <a:srgbClr val="2f5d94"/>
                </a:solidFill>
                <a:latin typeface="STIXGeneral"/>
                <a:ea typeface="STIXGeneral"/>
              </a:rPr>
              <a:t> N</a:t>
            </a:r>
            <a:endParaRPr b="0" lang="en-US" sz="4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3465360" y="750240"/>
            <a:ext cx="180000" cy="0"/>
          </a:xfrm>
          <a:custGeom>
            <a:avLst/>
            <a:gdLst/>
            <a:ahLst/>
            <a:rect l="0" t="0" r="r" b="b"/>
            <a:pathLst>
              <a:path fill="none" w="500" h="0">
                <a:moveTo>
                  <a:pt x="0" y="0"/>
                </a:moveTo>
                <a:cubicBezTo>
                  <a:pt x="186" y="0"/>
                  <a:pt x="353" y="0"/>
                  <a:pt x="500" y="0"/>
                </a:cubicBezTo>
              </a:path>
            </a:pathLst>
          </a:custGeom>
          <a:ln cap="rnd" w="18720">
            <a:solidFill>
              <a:srgbClr val="2f5d94"/>
            </a:solidFill>
            <a:round/>
          </a:ln>
        </p:spPr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3614760" y="735120"/>
            <a:ext cx="30960" cy="30960"/>
          </a:xfrm>
          <a:custGeom>
            <a:avLst/>
            <a:gdLst/>
            <a:ahLst/>
            <a:rect l="0" t="0" r="r" b="b"/>
            <a:pathLst>
              <a:path w="86" h="86">
                <a:moveTo>
                  <a:pt x="0" y="0"/>
                </a:moveTo>
                <a:lnTo>
                  <a:pt x="86" y="43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2f5d94"/>
          </a:solidFill>
          <a:ln cap="rnd" w="18720">
            <a:solidFill>
              <a:srgbClr val="2f5d94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1197720" y="46080"/>
            <a:ext cx="581400" cy="8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2b2b28"/>
                </a:solidFill>
                <a:latin typeface="NimbusRoman"/>
                <a:ea typeface="NimbusRoman"/>
              </a:rPr>
              <a:t>(b) the two axes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3517920" y="598320"/>
            <a:ext cx="96840" cy="56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40" spc="-1" strike="noStrike">
                <a:solidFill>
                  <a:srgbClr val="2f5d94"/>
                </a:solidFill>
                <a:latin typeface="NimbusRoman"/>
                <a:ea typeface="NimbusRoman"/>
              </a:rPr>
              <a:t>read</a:t>
            </a:r>
            <a:endParaRPr b="0" lang="en-US" sz="4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3521880" y="631800"/>
            <a:ext cx="5544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440" spc="-1" strike="noStrike">
                <a:solidFill>
                  <a:srgbClr val="2f5d94"/>
                </a:solidFill>
                <a:latin typeface="STIXGeneral"/>
                <a:ea typeface="STIXGeneral"/>
              </a:rPr>
              <a:t>F</a:t>
            </a:r>
            <a:endParaRPr b="0" lang="en-US" sz="4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3555720" y="653400"/>
            <a:ext cx="55440" cy="56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40" spc="-1" strike="noStrike">
                <a:solidFill>
                  <a:srgbClr val="2f5d94"/>
                </a:solidFill>
                <a:latin typeface="NimbusRoman"/>
                <a:ea typeface="NimbusRoman"/>
              </a:rPr>
              <a:t>, </a:t>
            </a:r>
            <a:endParaRPr b="0" lang="en-US" sz="4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3583440" y="631800"/>
            <a:ext cx="5544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440" spc="-1" strike="noStrike">
                <a:solidFill>
                  <a:srgbClr val="2f5d94"/>
                </a:solidFill>
                <a:latin typeface="STIXGeneral"/>
                <a:ea typeface="STIXGeneral"/>
              </a:rPr>
              <a:t>I</a:t>
            </a:r>
            <a:endParaRPr b="0" lang="en-US" sz="4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3721320" y="187200"/>
            <a:ext cx="768600" cy="207360"/>
          </a:xfrm>
          <a:custGeom>
            <a:avLst/>
            <a:gdLst/>
            <a:ahLst/>
            <a:rect l="0" t="0" r="r" b="b"/>
            <a:pathLst>
              <a:path w="2135" h="576">
                <a:moveTo>
                  <a:pt x="182" y="576"/>
                </a:moveTo>
                <a:lnTo>
                  <a:pt x="1953" y="576"/>
                </a:lnTo>
                <a:cubicBezTo>
                  <a:pt x="2074" y="576"/>
                  <a:pt x="2135" y="563"/>
                  <a:pt x="2135" y="538"/>
                </a:cubicBezTo>
                <a:lnTo>
                  <a:pt x="2135" y="38"/>
                </a:lnTo>
                <a:cubicBezTo>
                  <a:pt x="2135" y="13"/>
                  <a:pt x="2074" y="0"/>
                  <a:pt x="1953" y="0"/>
                </a:cubicBezTo>
                <a:lnTo>
                  <a:pt x="182" y="0"/>
                </a:lnTo>
                <a:cubicBezTo>
                  <a:pt x="61" y="0"/>
                  <a:pt x="0" y="13"/>
                  <a:pt x="0" y="38"/>
                </a:cubicBezTo>
                <a:lnTo>
                  <a:pt x="0" y="538"/>
                </a:lnTo>
                <a:cubicBezTo>
                  <a:pt x="0" y="563"/>
                  <a:pt x="61" y="576"/>
                  <a:pt x="182" y="576"/>
                </a:cubicBezTo>
                <a:close/>
              </a:path>
            </a:pathLst>
          </a:custGeom>
          <a:solidFill>
            <a:srgbClr val="e9f0f8"/>
          </a:solidFill>
          <a:ln w="8640">
            <a:solidFill>
              <a:srgbClr val="a9bfd8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3721680" y="46080"/>
            <a:ext cx="486720" cy="8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2b2b28"/>
                </a:solidFill>
                <a:latin typeface="NimbusRoman"/>
                <a:ea typeface="NimbusRoman"/>
              </a:rPr>
              <a:t>(c) the exams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3721320" y="417240"/>
            <a:ext cx="768600" cy="207000"/>
          </a:xfrm>
          <a:custGeom>
            <a:avLst/>
            <a:gdLst/>
            <a:ahLst/>
            <a:rect l="0" t="0" r="r" b="b"/>
            <a:pathLst>
              <a:path w="2135" h="575">
                <a:moveTo>
                  <a:pt x="182" y="575"/>
                </a:moveTo>
                <a:lnTo>
                  <a:pt x="1953" y="575"/>
                </a:lnTo>
                <a:cubicBezTo>
                  <a:pt x="2074" y="575"/>
                  <a:pt x="2135" y="563"/>
                  <a:pt x="2135" y="537"/>
                </a:cubicBezTo>
                <a:lnTo>
                  <a:pt x="2135" y="37"/>
                </a:lnTo>
                <a:cubicBezTo>
                  <a:pt x="2135" y="12"/>
                  <a:pt x="2074" y="0"/>
                  <a:pt x="1953" y="0"/>
                </a:cubicBezTo>
                <a:lnTo>
                  <a:pt x="182" y="0"/>
                </a:lnTo>
                <a:cubicBezTo>
                  <a:pt x="61" y="0"/>
                  <a:pt x="0" y="12"/>
                  <a:pt x="0" y="37"/>
                </a:cubicBezTo>
                <a:lnTo>
                  <a:pt x="0" y="537"/>
                </a:lnTo>
                <a:cubicBezTo>
                  <a:pt x="0" y="563"/>
                  <a:pt x="61" y="575"/>
                  <a:pt x="182" y="575"/>
                </a:cubicBezTo>
                <a:close/>
              </a:path>
            </a:pathLst>
          </a:custGeom>
          <a:solidFill>
            <a:srgbClr val="e9f0f8"/>
          </a:solidFill>
          <a:ln w="8640">
            <a:solidFill>
              <a:srgbClr val="a9bfd8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3977640" y="261360"/>
            <a:ext cx="258120" cy="7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60" spc="-1" strike="noStrike">
                <a:solidFill>
                  <a:srgbClr val="17233b"/>
                </a:solidFill>
                <a:latin typeface="NimbusRoman"/>
                <a:ea typeface="NimbusRoman"/>
              </a:rPr>
              <a:t>exposure</a:t>
            </a:r>
            <a:endParaRPr b="0" lang="en-US" sz="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3721320" y="646920"/>
            <a:ext cx="768600" cy="207360"/>
          </a:xfrm>
          <a:custGeom>
            <a:avLst/>
            <a:gdLst/>
            <a:ahLst/>
            <a:rect l="0" t="0" r="r" b="b"/>
            <a:pathLst>
              <a:path w="2135" h="576">
                <a:moveTo>
                  <a:pt x="182" y="576"/>
                </a:moveTo>
                <a:lnTo>
                  <a:pt x="1953" y="576"/>
                </a:lnTo>
                <a:cubicBezTo>
                  <a:pt x="2074" y="576"/>
                  <a:pt x="2135" y="563"/>
                  <a:pt x="2135" y="538"/>
                </a:cubicBezTo>
                <a:lnTo>
                  <a:pt x="2135" y="38"/>
                </a:lnTo>
                <a:cubicBezTo>
                  <a:pt x="2135" y="12"/>
                  <a:pt x="2074" y="0"/>
                  <a:pt x="1953" y="0"/>
                </a:cubicBezTo>
                <a:lnTo>
                  <a:pt x="182" y="0"/>
                </a:lnTo>
                <a:cubicBezTo>
                  <a:pt x="61" y="0"/>
                  <a:pt x="0" y="12"/>
                  <a:pt x="0" y="38"/>
                </a:cubicBezTo>
                <a:lnTo>
                  <a:pt x="0" y="538"/>
                </a:lnTo>
                <a:cubicBezTo>
                  <a:pt x="0" y="563"/>
                  <a:pt x="61" y="576"/>
                  <a:pt x="182" y="576"/>
                </a:cubicBezTo>
                <a:close/>
              </a:path>
            </a:pathLst>
          </a:custGeom>
          <a:solidFill>
            <a:srgbClr val="e9f0f8"/>
          </a:solidFill>
          <a:ln w="8640">
            <a:solidFill>
              <a:srgbClr val="a9bfd8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3855960" y="491040"/>
            <a:ext cx="503640" cy="7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60" spc="-1" strike="noStrike">
                <a:solidFill>
                  <a:srgbClr val="17233b"/>
                </a:solidFill>
                <a:latin typeface="NimbusRoman"/>
                <a:ea typeface="NimbusRoman"/>
              </a:rPr>
              <a:t>hazard sensitivity</a:t>
            </a:r>
            <a:endParaRPr b="0" lang="en-US" sz="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3721320" y="876600"/>
            <a:ext cx="768600" cy="207360"/>
          </a:xfrm>
          <a:custGeom>
            <a:avLst/>
            <a:gdLst/>
            <a:ahLst/>
            <a:rect l="0" t="0" r="r" b="b"/>
            <a:pathLst>
              <a:path w="2135" h="576">
                <a:moveTo>
                  <a:pt x="182" y="576"/>
                </a:moveTo>
                <a:lnTo>
                  <a:pt x="1953" y="576"/>
                </a:lnTo>
                <a:cubicBezTo>
                  <a:pt x="2074" y="576"/>
                  <a:pt x="2135" y="563"/>
                  <a:pt x="2135" y="538"/>
                </a:cubicBezTo>
                <a:lnTo>
                  <a:pt x="2135" y="38"/>
                </a:lnTo>
                <a:cubicBezTo>
                  <a:pt x="2135" y="13"/>
                  <a:pt x="2074" y="0"/>
                  <a:pt x="1953" y="0"/>
                </a:cubicBezTo>
                <a:lnTo>
                  <a:pt x="182" y="0"/>
                </a:lnTo>
                <a:cubicBezTo>
                  <a:pt x="61" y="0"/>
                  <a:pt x="0" y="13"/>
                  <a:pt x="0" y="38"/>
                </a:cubicBezTo>
                <a:lnTo>
                  <a:pt x="0" y="538"/>
                </a:lnTo>
                <a:cubicBezTo>
                  <a:pt x="0" y="563"/>
                  <a:pt x="61" y="576"/>
                  <a:pt x="182" y="576"/>
                </a:cubicBezTo>
                <a:close/>
              </a:path>
            </a:pathLst>
          </a:custGeom>
          <a:solidFill>
            <a:srgbClr val="e9f0f8"/>
          </a:solidFill>
          <a:ln w="8640">
            <a:solidFill>
              <a:srgbClr val="a9bfd8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4005000" y="720720"/>
            <a:ext cx="203400" cy="7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60" spc="-1" strike="noStrike">
                <a:solidFill>
                  <a:srgbClr val="17233b"/>
                </a:solidFill>
                <a:latin typeface="NimbusRoman"/>
                <a:ea typeface="NimbusRoman"/>
              </a:rPr>
              <a:t>scaling</a:t>
            </a:r>
            <a:endParaRPr b="0" lang="en-US" sz="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3721320" y="1106280"/>
            <a:ext cx="768600" cy="207360"/>
          </a:xfrm>
          <a:custGeom>
            <a:avLst/>
            <a:gdLst/>
            <a:ahLst/>
            <a:rect l="0" t="0" r="r" b="b"/>
            <a:pathLst>
              <a:path w="2135" h="576">
                <a:moveTo>
                  <a:pt x="182" y="576"/>
                </a:moveTo>
                <a:lnTo>
                  <a:pt x="1953" y="576"/>
                </a:lnTo>
                <a:cubicBezTo>
                  <a:pt x="2074" y="576"/>
                  <a:pt x="2135" y="564"/>
                  <a:pt x="2135" y="538"/>
                </a:cubicBezTo>
                <a:lnTo>
                  <a:pt x="2135" y="38"/>
                </a:lnTo>
                <a:cubicBezTo>
                  <a:pt x="2135" y="13"/>
                  <a:pt x="2074" y="0"/>
                  <a:pt x="1953" y="0"/>
                </a:cubicBezTo>
                <a:lnTo>
                  <a:pt x="182" y="0"/>
                </a:lnTo>
                <a:cubicBezTo>
                  <a:pt x="61" y="0"/>
                  <a:pt x="0" y="13"/>
                  <a:pt x="0" y="38"/>
                </a:cubicBezTo>
                <a:lnTo>
                  <a:pt x="0" y="538"/>
                </a:lnTo>
                <a:cubicBezTo>
                  <a:pt x="0" y="564"/>
                  <a:pt x="61" y="576"/>
                  <a:pt x="182" y="576"/>
                </a:cubicBezTo>
                <a:close/>
              </a:path>
            </a:pathLst>
          </a:custGeom>
          <a:solidFill>
            <a:srgbClr val="e9f0f8"/>
          </a:solidFill>
          <a:ln w="8640">
            <a:solidFill>
              <a:srgbClr val="a9bfd8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3957480" y="950760"/>
            <a:ext cx="294840" cy="7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60" spc="-1" strike="noStrike">
                <a:solidFill>
                  <a:srgbClr val="17233b"/>
                </a:solidFill>
                <a:latin typeface="NimbusRoman"/>
                <a:ea typeface="NimbusRoman"/>
              </a:rPr>
              <a:t>specificity</a:t>
            </a:r>
            <a:endParaRPr b="0" lang="en-US" sz="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4544280" y="750240"/>
            <a:ext cx="180000" cy="0"/>
          </a:xfrm>
          <a:custGeom>
            <a:avLst/>
            <a:gdLst/>
            <a:ahLst/>
            <a:rect l="0" t="0" r="r" b="b"/>
            <a:pathLst>
              <a:path fill="none" w="500" h="0">
                <a:moveTo>
                  <a:pt x="0" y="0"/>
                </a:moveTo>
                <a:cubicBezTo>
                  <a:pt x="187" y="0"/>
                  <a:pt x="353" y="0"/>
                  <a:pt x="500" y="0"/>
                </a:cubicBezTo>
              </a:path>
            </a:pathLst>
          </a:custGeom>
          <a:ln cap="rnd" w="18720">
            <a:solidFill>
              <a:srgbClr val="2f5d94"/>
            </a:solidFill>
            <a:round/>
          </a:ln>
        </p:spPr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4693680" y="735120"/>
            <a:ext cx="30960" cy="30960"/>
          </a:xfrm>
          <a:custGeom>
            <a:avLst/>
            <a:gdLst/>
            <a:ahLst/>
            <a:rect l="0" t="0" r="r" b="b"/>
            <a:pathLst>
              <a:path w="86" h="86">
                <a:moveTo>
                  <a:pt x="0" y="0"/>
                </a:moveTo>
                <a:lnTo>
                  <a:pt x="86" y="43"/>
                </a:lnTo>
                <a:lnTo>
                  <a:pt x="0" y="86"/>
                </a:lnTo>
                <a:lnTo>
                  <a:pt x="0" y="0"/>
                </a:lnTo>
                <a:close/>
              </a:path>
            </a:pathLst>
          </a:custGeom>
          <a:solidFill>
            <a:srgbClr val="2f5d94"/>
          </a:solidFill>
          <a:ln cap="rnd" w="18720">
            <a:solidFill>
              <a:srgbClr val="2f5d94"/>
            </a:solidFill>
            <a:round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3994920" y="1180440"/>
            <a:ext cx="223200" cy="7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60" spc="-1" strike="noStrike">
                <a:solidFill>
                  <a:srgbClr val="17233b"/>
                </a:solidFill>
                <a:latin typeface="NimbusRoman"/>
                <a:ea typeface="NimbusRoman"/>
              </a:rPr>
              <a:t>lighting</a:t>
            </a:r>
            <a:endParaRPr b="0" lang="en-US" sz="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4530600" y="599040"/>
            <a:ext cx="232200" cy="56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40" spc="-1" strike="noStrike">
                <a:solidFill>
                  <a:srgbClr val="2f5d94"/>
                </a:solidFill>
                <a:latin typeface="NimbusRoman"/>
                <a:ea typeface="NimbusRoman"/>
              </a:rPr>
              <a:t>test on the</a:t>
            </a:r>
            <a:endParaRPr b="0" lang="en-US" sz="4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4535640" y="659160"/>
            <a:ext cx="220320" cy="56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40" spc="-1" strike="noStrike">
                <a:solidFill>
                  <a:srgbClr val="2f5d94"/>
                </a:solidFill>
                <a:latin typeface="NimbusRoman"/>
                <a:ea typeface="NimbusRoman"/>
              </a:rPr>
              <a:t>other side</a:t>
            </a:r>
            <a:endParaRPr b="0" lang="en-US" sz="44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4800600" y="187200"/>
            <a:ext cx="786960" cy="264960"/>
          </a:xfrm>
          <a:custGeom>
            <a:avLst/>
            <a:gdLst/>
            <a:ahLst/>
            <a:rect l="0" t="0" r="r" b="b"/>
            <a:pathLst>
              <a:path w="2186" h="736">
                <a:moveTo>
                  <a:pt x="182" y="736"/>
                </a:moveTo>
                <a:lnTo>
                  <a:pt x="2004" y="736"/>
                </a:lnTo>
                <a:cubicBezTo>
                  <a:pt x="2125" y="736"/>
                  <a:pt x="2186" y="723"/>
                  <a:pt x="2186" y="698"/>
                </a:cubicBezTo>
                <a:lnTo>
                  <a:pt x="2186" y="38"/>
                </a:lnTo>
                <a:cubicBezTo>
                  <a:pt x="2186" y="13"/>
                  <a:pt x="2125" y="0"/>
                  <a:pt x="2004" y="0"/>
                </a:cubicBezTo>
                <a:lnTo>
                  <a:pt x="182" y="0"/>
                </a:lnTo>
                <a:cubicBezTo>
                  <a:pt x="61" y="0"/>
                  <a:pt x="0" y="13"/>
                  <a:pt x="0" y="38"/>
                </a:cubicBezTo>
                <a:lnTo>
                  <a:pt x="0" y="698"/>
                </a:lnTo>
                <a:cubicBezTo>
                  <a:pt x="0" y="723"/>
                  <a:pt x="61" y="736"/>
                  <a:pt x="182" y="736"/>
                </a:cubicBezTo>
                <a:close/>
              </a:path>
            </a:pathLst>
          </a:custGeom>
          <a:solidFill>
            <a:srgbClr val="e9f0f8"/>
          </a:solidFill>
          <a:ln w="8640">
            <a:solidFill>
              <a:srgbClr val="a9bfd8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4800600" y="46080"/>
            <a:ext cx="485280" cy="87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1" lang="en-US" sz="680" spc="-1" strike="noStrike">
                <a:solidFill>
                  <a:srgbClr val="2b2b28"/>
                </a:solidFill>
                <a:latin typeface="NimbusRoman"/>
                <a:ea typeface="NimbusRoman"/>
              </a:rPr>
              <a:t>(d) prognosis</a:t>
            </a:r>
            <a:endParaRPr b="0" lang="en-US" sz="6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4800600" y="474480"/>
            <a:ext cx="786960" cy="264600"/>
          </a:xfrm>
          <a:custGeom>
            <a:avLst/>
            <a:gdLst/>
            <a:ahLst/>
            <a:rect l="0" t="0" r="r" b="b"/>
            <a:pathLst>
              <a:path w="2186" h="735">
                <a:moveTo>
                  <a:pt x="182" y="735"/>
                </a:moveTo>
                <a:lnTo>
                  <a:pt x="2004" y="735"/>
                </a:lnTo>
                <a:cubicBezTo>
                  <a:pt x="2125" y="735"/>
                  <a:pt x="2186" y="723"/>
                  <a:pt x="2186" y="698"/>
                </a:cubicBezTo>
                <a:lnTo>
                  <a:pt x="2186" y="38"/>
                </a:lnTo>
                <a:cubicBezTo>
                  <a:pt x="2186" y="13"/>
                  <a:pt x="2125" y="0"/>
                  <a:pt x="2004" y="0"/>
                </a:cubicBezTo>
                <a:lnTo>
                  <a:pt x="182" y="0"/>
                </a:lnTo>
                <a:cubicBezTo>
                  <a:pt x="61" y="0"/>
                  <a:pt x="0" y="13"/>
                  <a:pt x="0" y="38"/>
                </a:cubicBezTo>
                <a:lnTo>
                  <a:pt x="0" y="698"/>
                </a:lnTo>
                <a:cubicBezTo>
                  <a:pt x="0" y="723"/>
                  <a:pt x="61" y="735"/>
                  <a:pt x="182" y="735"/>
                </a:cubicBezTo>
                <a:close/>
              </a:path>
            </a:pathLst>
          </a:custGeom>
          <a:solidFill>
            <a:srgbClr val="e9f0f8"/>
          </a:solidFill>
          <a:ln w="8640">
            <a:solidFill>
              <a:srgbClr val="a9bfd8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4942440" y="290160"/>
            <a:ext cx="506520" cy="7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60" spc="-1" strike="noStrike">
                <a:solidFill>
                  <a:srgbClr val="17233b"/>
                </a:solidFill>
                <a:latin typeface="NimbusRoman"/>
                <a:ea typeface="NimbusRoman"/>
              </a:rPr>
              <a:t>orderings transfer</a:t>
            </a:r>
            <a:endParaRPr b="0" lang="en-US" sz="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4800600" y="761760"/>
            <a:ext cx="786960" cy="264600"/>
          </a:xfrm>
          <a:custGeom>
            <a:avLst/>
            <a:gdLst/>
            <a:ahLst/>
            <a:rect l="0" t="0" r="r" b="b"/>
            <a:pathLst>
              <a:path w="2186" h="735">
                <a:moveTo>
                  <a:pt x="182" y="735"/>
                </a:moveTo>
                <a:lnTo>
                  <a:pt x="2004" y="735"/>
                </a:lnTo>
                <a:cubicBezTo>
                  <a:pt x="2125" y="735"/>
                  <a:pt x="2186" y="723"/>
                  <a:pt x="2186" y="697"/>
                </a:cubicBezTo>
                <a:lnTo>
                  <a:pt x="2186" y="38"/>
                </a:lnTo>
                <a:cubicBezTo>
                  <a:pt x="2186" y="13"/>
                  <a:pt x="2125" y="0"/>
                  <a:pt x="2004" y="0"/>
                </a:cubicBezTo>
                <a:lnTo>
                  <a:pt x="182" y="0"/>
                </a:lnTo>
                <a:cubicBezTo>
                  <a:pt x="61" y="0"/>
                  <a:pt x="0" y="13"/>
                  <a:pt x="0" y="38"/>
                </a:cubicBezTo>
                <a:lnTo>
                  <a:pt x="0" y="697"/>
                </a:lnTo>
                <a:cubicBezTo>
                  <a:pt x="0" y="723"/>
                  <a:pt x="61" y="735"/>
                  <a:pt x="182" y="735"/>
                </a:cubicBezTo>
                <a:close/>
              </a:path>
            </a:pathLst>
          </a:custGeom>
          <a:solidFill>
            <a:srgbClr val="e9f0f8"/>
          </a:solidFill>
          <a:ln w="8640">
            <a:solidFill>
              <a:srgbClr val="a9bfd8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4964040" y="577080"/>
            <a:ext cx="464040" cy="7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60" spc="-1" strike="noStrike">
                <a:solidFill>
                  <a:srgbClr val="17233b"/>
                </a:solidFill>
                <a:latin typeface="NimbusRoman"/>
                <a:ea typeface="NimbusRoman"/>
              </a:rPr>
              <a:t>verdicts transfer</a:t>
            </a:r>
            <a:endParaRPr b="0" lang="en-US" sz="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4800600" y="1049040"/>
            <a:ext cx="786960" cy="264600"/>
          </a:xfrm>
          <a:custGeom>
            <a:avLst/>
            <a:gdLst/>
            <a:ahLst/>
            <a:rect l="0" t="0" r="r" b="b"/>
            <a:pathLst>
              <a:path w="2186" h="735">
                <a:moveTo>
                  <a:pt x="182" y="735"/>
                </a:moveTo>
                <a:lnTo>
                  <a:pt x="2004" y="735"/>
                </a:lnTo>
                <a:cubicBezTo>
                  <a:pt x="2125" y="735"/>
                  <a:pt x="2186" y="723"/>
                  <a:pt x="2186" y="697"/>
                </a:cubicBezTo>
                <a:lnTo>
                  <a:pt x="2186" y="38"/>
                </a:lnTo>
                <a:cubicBezTo>
                  <a:pt x="2186" y="12"/>
                  <a:pt x="2125" y="0"/>
                  <a:pt x="2004" y="0"/>
                </a:cubicBezTo>
                <a:lnTo>
                  <a:pt x="182" y="0"/>
                </a:lnTo>
                <a:cubicBezTo>
                  <a:pt x="61" y="0"/>
                  <a:pt x="0" y="12"/>
                  <a:pt x="0" y="38"/>
                </a:cubicBezTo>
                <a:lnTo>
                  <a:pt x="0" y="697"/>
                </a:lnTo>
                <a:cubicBezTo>
                  <a:pt x="0" y="723"/>
                  <a:pt x="61" y="735"/>
                  <a:pt x="182" y="735"/>
                </a:cubicBezTo>
                <a:close/>
              </a:path>
            </a:pathLst>
          </a:custGeom>
          <a:solidFill>
            <a:srgbClr val="e9f0f8"/>
          </a:solidFill>
          <a:ln w="8640">
            <a:solidFill>
              <a:srgbClr val="a9bfd8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922280" y="864360"/>
            <a:ext cx="547920" cy="7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60" spc="-1" strike="noStrike">
                <a:solidFill>
                  <a:srgbClr val="17233b"/>
                </a:solidFill>
                <a:latin typeface="NimbusRoman"/>
                <a:ea typeface="NimbusRoman"/>
              </a:rPr>
              <a:t>point values do not</a:t>
            </a:r>
            <a:endParaRPr b="0" lang="en-US" sz="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5605200" y="750240"/>
            <a:ext cx="72720" cy="0"/>
          </a:xfrm>
          <a:custGeom>
            <a:avLst/>
            <a:gdLst/>
            <a:ahLst/>
            <a:rect l="0" t="0" r="r" b="b"/>
            <a:pathLst>
              <a:path fill="none" w="202" h="0">
                <a:moveTo>
                  <a:pt x="0" y="0"/>
                </a:moveTo>
                <a:cubicBezTo>
                  <a:pt x="84" y="0"/>
                  <a:pt x="152" y="0"/>
                  <a:pt x="202" y="0"/>
                </a:cubicBezTo>
              </a:path>
            </a:pathLst>
          </a:custGeom>
          <a:ln cap="rnd" w="16200">
            <a:solidFill>
              <a:srgbClr val="2f5d94"/>
            </a:solidFill>
            <a:round/>
          </a:ln>
        </p:spPr>
        <p:txBody>
          <a:bodyPr lIns="7920" rIns="7920" tIns="-7920" bIns="-79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5652720" y="7376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0"/>
                </a:moveTo>
                <a:lnTo>
                  <a:pt x="71" y="36"/>
                </a:lnTo>
                <a:lnTo>
                  <a:pt x="0" y="71"/>
                </a:lnTo>
                <a:lnTo>
                  <a:pt x="0" y="0"/>
                </a:lnTo>
                <a:close/>
              </a:path>
            </a:pathLst>
          </a:custGeom>
          <a:solidFill>
            <a:srgbClr val="2f5d94"/>
          </a:solidFill>
          <a:ln cap="rnd" w="16200">
            <a:solidFill>
              <a:srgbClr val="2f5d94"/>
            </a:solidFill>
            <a:round/>
          </a:ln>
        </p:spPr>
        <p:txBody>
          <a:bodyPr lIns="7920" rIns="7920" tIns="7920" bIns="79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4962960" y="1151640"/>
            <a:ext cx="465480" cy="72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60" spc="-1" strike="noStrike">
                <a:solidFill>
                  <a:srgbClr val="17233b"/>
                </a:solidFill>
                <a:latin typeface="NimbusRoman"/>
                <a:ea typeface="NimbusRoman"/>
              </a:rPr>
              <a:t>priced in frames</a:t>
            </a:r>
            <a:endParaRPr b="0" lang="en-US" sz="56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5756040" y="604080"/>
            <a:ext cx="316080" cy="50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00" spc="-1" strike="noStrike">
                <a:solidFill>
                  <a:srgbClr val="52514e"/>
                </a:solidFill>
                <a:latin typeface="NimbusRoman"/>
                <a:ea typeface="NimbusRoman"/>
              </a:rPr>
              <a:t>check-up report</a:t>
            </a:r>
            <a:endParaRPr b="0" lang="en-US" sz="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5778720" y="205560"/>
            <a:ext cx="275040" cy="366120"/>
          </a:xfrm>
          <a:custGeom>
            <a:avLst/>
            <a:gdLst/>
            <a:ahLst/>
            <a:rect l="0" t="0" r="r" b="b"/>
            <a:pathLst>
              <a:path w="764" h="1017">
                <a:moveTo>
                  <a:pt x="183" y="1017"/>
                </a:moveTo>
                <a:lnTo>
                  <a:pt x="582" y="1017"/>
                </a:lnTo>
                <a:cubicBezTo>
                  <a:pt x="704" y="1017"/>
                  <a:pt x="764" y="1004"/>
                  <a:pt x="764" y="979"/>
                </a:cubicBezTo>
                <a:lnTo>
                  <a:pt x="764" y="38"/>
                </a:lnTo>
                <a:cubicBezTo>
                  <a:pt x="764" y="13"/>
                  <a:pt x="704" y="0"/>
                  <a:pt x="582" y="0"/>
                </a:cubicBezTo>
                <a:lnTo>
                  <a:pt x="183" y="0"/>
                </a:lnTo>
                <a:cubicBezTo>
                  <a:pt x="61" y="0"/>
                  <a:pt x="0" y="13"/>
                  <a:pt x="0" y="38"/>
                </a:cubicBezTo>
                <a:lnTo>
                  <a:pt x="0" y="979"/>
                </a:lnTo>
                <a:cubicBezTo>
                  <a:pt x="0" y="1004"/>
                  <a:pt x="61" y="1017"/>
                  <a:pt x="183" y="1017"/>
                </a:cubicBezTo>
                <a:close/>
              </a:path>
            </a:pathLst>
          </a:custGeom>
          <a:solidFill>
            <a:srgbClr val="f2f6f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5778720" y="205560"/>
            <a:ext cx="275040" cy="366120"/>
          </a:xfrm>
          <a:custGeom>
            <a:avLst/>
            <a:gdLst/>
            <a:ahLst/>
            <a:rect l="0" t="0" r="r" b="b"/>
            <a:pathLst>
              <a:path w="764" h="1017">
                <a:moveTo>
                  <a:pt x="183" y="1017"/>
                </a:moveTo>
                <a:lnTo>
                  <a:pt x="582" y="1017"/>
                </a:lnTo>
                <a:cubicBezTo>
                  <a:pt x="704" y="1017"/>
                  <a:pt x="764" y="1004"/>
                  <a:pt x="764" y="979"/>
                </a:cubicBezTo>
                <a:lnTo>
                  <a:pt x="764" y="38"/>
                </a:lnTo>
                <a:cubicBezTo>
                  <a:pt x="764" y="13"/>
                  <a:pt x="704" y="0"/>
                  <a:pt x="582" y="0"/>
                </a:cubicBezTo>
                <a:lnTo>
                  <a:pt x="183" y="0"/>
                </a:lnTo>
                <a:cubicBezTo>
                  <a:pt x="61" y="0"/>
                  <a:pt x="0" y="13"/>
                  <a:pt x="0" y="38"/>
                </a:cubicBezTo>
                <a:lnTo>
                  <a:pt x="0" y="979"/>
                </a:lnTo>
                <a:cubicBezTo>
                  <a:pt x="0" y="1004"/>
                  <a:pt x="61" y="1017"/>
                  <a:pt x="183" y="1017"/>
                </a:cubicBezTo>
                <a:close/>
              </a:path>
            </a:pathLst>
          </a:custGeom>
          <a:noFill/>
          <a:ln w="12600">
            <a:solidFill>
              <a:srgbClr val="4a4a46"/>
            </a:solidFill>
            <a:miter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5828760" y="1054080"/>
            <a:ext cx="155880" cy="55080"/>
          </a:xfrm>
          <a:custGeom>
            <a:avLst/>
            <a:gdLst/>
            <a:ahLst/>
            <a:rect l="0" t="0" r="r" b="b"/>
            <a:pathLst>
              <a:path w="433" h="153">
                <a:moveTo>
                  <a:pt x="110" y="153"/>
                </a:moveTo>
                <a:lnTo>
                  <a:pt x="323" y="153"/>
                </a:lnTo>
                <a:cubicBezTo>
                  <a:pt x="396" y="153"/>
                  <a:pt x="433" y="146"/>
                  <a:pt x="433" y="131"/>
                </a:cubicBezTo>
                <a:lnTo>
                  <a:pt x="433" y="23"/>
                </a:lnTo>
                <a:cubicBezTo>
                  <a:pt x="433" y="8"/>
                  <a:pt x="396" y="0"/>
                  <a:pt x="323" y="0"/>
                </a:cubicBezTo>
                <a:lnTo>
                  <a:pt x="110" y="0"/>
                </a:lnTo>
                <a:cubicBezTo>
                  <a:pt x="37" y="0"/>
                  <a:pt x="0" y="8"/>
                  <a:pt x="0" y="23"/>
                </a:cubicBezTo>
                <a:lnTo>
                  <a:pt x="0" y="131"/>
                </a:lnTo>
                <a:cubicBezTo>
                  <a:pt x="0" y="146"/>
                  <a:pt x="37" y="153"/>
                  <a:pt x="110" y="153"/>
                </a:cubicBezTo>
                <a:close/>
              </a:path>
            </a:pathLst>
          </a:custGeom>
          <a:solidFill>
            <a:srgbClr val="5b9bd5"/>
          </a:solidFill>
          <a:ln w="8640">
            <a:solidFill>
              <a:srgbClr val="17233b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5855760" y="187200"/>
            <a:ext cx="120960" cy="77400"/>
          </a:xfrm>
          <a:custGeom>
            <a:avLst/>
            <a:gdLst/>
            <a:ahLst/>
            <a:rect l="0" t="0" r="r" b="b"/>
            <a:pathLst>
              <a:path w="336" h="215">
                <a:moveTo>
                  <a:pt x="91" y="215"/>
                </a:moveTo>
                <a:lnTo>
                  <a:pt x="244" y="215"/>
                </a:lnTo>
                <a:cubicBezTo>
                  <a:pt x="305" y="215"/>
                  <a:pt x="336" y="208"/>
                  <a:pt x="336" y="196"/>
                </a:cubicBezTo>
                <a:lnTo>
                  <a:pt x="336" y="20"/>
                </a:lnTo>
                <a:cubicBezTo>
                  <a:pt x="336" y="7"/>
                  <a:pt x="305" y="0"/>
                  <a:pt x="244" y="0"/>
                </a:cubicBezTo>
                <a:lnTo>
                  <a:pt x="91" y="0"/>
                </a:lnTo>
                <a:cubicBezTo>
                  <a:pt x="30" y="0"/>
                  <a:pt x="0" y="7"/>
                  <a:pt x="0" y="20"/>
                </a:cubicBezTo>
                <a:lnTo>
                  <a:pt x="0" y="196"/>
                </a:lnTo>
                <a:cubicBezTo>
                  <a:pt x="0" y="208"/>
                  <a:pt x="30" y="215"/>
                  <a:pt x="91" y="215"/>
                </a:cubicBezTo>
                <a:close/>
              </a:path>
            </a:pathLst>
          </a:custGeom>
          <a:solidFill>
            <a:srgbClr val="4a4a46"/>
          </a:solidFill>
          <a:ln w="10080">
            <a:solidFill>
              <a:srgbClr val="4a4a46"/>
            </a:solidFill>
            <a:miter/>
          </a:ln>
        </p:spPr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5877720" y="322560"/>
            <a:ext cx="128880" cy="0"/>
          </a:xfrm>
          <a:prstGeom prst="line">
            <a:avLst/>
          </a:prstGeom>
          <a:ln cap="rnd" w="10080">
            <a:solidFill>
              <a:srgbClr val="9a99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5814360" y="302040"/>
            <a:ext cx="50040" cy="41400"/>
          </a:xfrm>
          <a:custGeom>
            <a:avLst/>
            <a:gdLst/>
            <a:ahLst/>
            <a:rect l="0" t="0" r="r" b="b"/>
            <a:pathLst>
              <a:path fill="none" w="139" h="115">
                <a:moveTo>
                  <a:pt x="0" y="58"/>
                </a:moveTo>
                <a:lnTo>
                  <a:pt x="61" y="115"/>
                </a:lnTo>
                <a:lnTo>
                  <a:pt x="139" y="0"/>
                </a:lnTo>
              </a:path>
            </a:pathLst>
          </a:custGeom>
          <a:ln cap="rnd" w="11160">
            <a:solidFill>
              <a:srgbClr val="2e75b6"/>
            </a:solidFill>
            <a:round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5877720" y="395640"/>
            <a:ext cx="128880" cy="0"/>
          </a:xfrm>
          <a:prstGeom prst="line">
            <a:avLst/>
          </a:prstGeom>
          <a:ln cap="rnd" w="10080">
            <a:solidFill>
              <a:srgbClr val="9a99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5814360" y="375120"/>
            <a:ext cx="50040" cy="41400"/>
          </a:xfrm>
          <a:custGeom>
            <a:avLst/>
            <a:gdLst/>
            <a:ahLst/>
            <a:rect l="0" t="0" r="r" b="b"/>
            <a:pathLst>
              <a:path fill="none" w="139" h="115">
                <a:moveTo>
                  <a:pt x="0" y="58"/>
                </a:moveTo>
                <a:lnTo>
                  <a:pt x="61" y="115"/>
                </a:lnTo>
                <a:lnTo>
                  <a:pt x="139" y="0"/>
                </a:lnTo>
              </a:path>
            </a:pathLst>
          </a:custGeom>
          <a:ln cap="rnd" w="11160">
            <a:solidFill>
              <a:srgbClr val="2e75b6"/>
            </a:solidFill>
            <a:round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5877720" y="469080"/>
            <a:ext cx="128880" cy="0"/>
          </a:xfrm>
          <a:prstGeom prst="line">
            <a:avLst/>
          </a:prstGeom>
          <a:ln cap="rnd" w="10080">
            <a:solidFill>
              <a:srgbClr val="9a99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5814360" y="448560"/>
            <a:ext cx="50040" cy="41040"/>
          </a:xfrm>
          <a:custGeom>
            <a:avLst/>
            <a:gdLst/>
            <a:ahLst/>
            <a:rect l="0" t="0" r="r" b="b"/>
            <a:pathLst>
              <a:path fill="none" w="139" h="114">
                <a:moveTo>
                  <a:pt x="0" y="58"/>
                </a:moveTo>
                <a:lnTo>
                  <a:pt x="61" y="114"/>
                </a:lnTo>
                <a:lnTo>
                  <a:pt x="139" y="0"/>
                </a:lnTo>
              </a:path>
            </a:pathLst>
          </a:custGeom>
          <a:ln cap="rnd" w="11160">
            <a:solidFill>
              <a:srgbClr val="2e75b6"/>
            </a:solidFill>
            <a:round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5877720" y="542160"/>
            <a:ext cx="128880" cy="0"/>
          </a:xfrm>
          <a:prstGeom prst="line">
            <a:avLst/>
          </a:prstGeom>
          <a:ln cap="rnd" w="10080">
            <a:solidFill>
              <a:srgbClr val="9a99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5814360" y="521640"/>
            <a:ext cx="50040" cy="41400"/>
          </a:xfrm>
          <a:custGeom>
            <a:avLst/>
            <a:gdLst/>
            <a:ahLst/>
            <a:rect l="0" t="0" r="r" b="b"/>
            <a:pathLst>
              <a:path fill="none" w="139" h="115">
                <a:moveTo>
                  <a:pt x="0" y="57"/>
                </a:moveTo>
                <a:lnTo>
                  <a:pt x="61" y="115"/>
                </a:lnTo>
                <a:lnTo>
                  <a:pt x="139" y="0"/>
                </a:lnTo>
              </a:path>
            </a:pathLst>
          </a:custGeom>
          <a:ln cap="rnd" w="11160">
            <a:solidFill>
              <a:srgbClr val="2e75b6"/>
            </a:solidFill>
            <a:round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5760720" y="1099080"/>
            <a:ext cx="311400" cy="65880"/>
          </a:xfrm>
          <a:custGeom>
            <a:avLst/>
            <a:gdLst/>
            <a:ahLst/>
            <a:rect l="0" t="0" r="r" b="b"/>
            <a:pathLst>
              <a:path w="865" h="183">
                <a:moveTo>
                  <a:pt x="110" y="183"/>
                </a:moveTo>
                <a:lnTo>
                  <a:pt x="755" y="183"/>
                </a:lnTo>
                <a:cubicBezTo>
                  <a:pt x="829" y="183"/>
                  <a:pt x="865" y="175"/>
                  <a:pt x="865" y="160"/>
                </a:cubicBezTo>
                <a:lnTo>
                  <a:pt x="865" y="23"/>
                </a:lnTo>
                <a:cubicBezTo>
                  <a:pt x="865" y="8"/>
                  <a:pt x="829" y="0"/>
                  <a:pt x="755" y="0"/>
                </a:cubicBezTo>
                <a:lnTo>
                  <a:pt x="110" y="0"/>
                </a:lnTo>
                <a:cubicBezTo>
                  <a:pt x="37" y="0"/>
                  <a:pt x="0" y="8"/>
                  <a:pt x="0" y="23"/>
                </a:cubicBezTo>
                <a:lnTo>
                  <a:pt x="0" y="160"/>
                </a:lnTo>
                <a:cubicBezTo>
                  <a:pt x="0" y="175"/>
                  <a:pt x="37" y="183"/>
                  <a:pt x="110" y="183"/>
                </a:cubicBezTo>
                <a:close/>
              </a:path>
            </a:pathLst>
          </a:custGeom>
          <a:solidFill>
            <a:srgbClr val="2f5d94"/>
          </a:solidFill>
          <a:ln w="8640">
            <a:solidFill>
              <a:srgbClr val="17233b"/>
            </a:solidFill>
            <a:miter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5794560" y="1136520"/>
            <a:ext cx="56520" cy="56160"/>
          </a:xfrm>
          <a:custGeom>
            <a:avLst/>
            <a:gdLst/>
            <a:ahLst/>
            <a:rect l="0" t="0" r="r" b="b"/>
            <a:pathLst>
              <a:path w="157" h="156">
                <a:moveTo>
                  <a:pt x="78" y="156"/>
                </a:moveTo>
                <a:cubicBezTo>
                  <a:pt x="99" y="156"/>
                  <a:pt x="120" y="148"/>
                  <a:pt x="134" y="133"/>
                </a:cubicBezTo>
                <a:cubicBezTo>
                  <a:pt x="149" y="119"/>
                  <a:pt x="157" y="99"/>
                  <a:pt x="157" y="79"/>
                </a:cubicBezTo>
                <a:cubicBezTo>
                  <a:pt x="157" y="58"/>
                  <a:pt x="149" y="38"/>
                  <a:pt x="134" y="24"/>
                </a:cubicBezTo>
                <a:cubicBezTo>
                  <a:pt x="120" y="8"/>
                  <a:pt x="99" y="0"/>
                  <a:pt x="78" y="0"/>
                </a:cubicBezTo>
                <a:cubicBezTo>
                  <a:pt x="58" y="0"/>
                  <a:pt x="38" y="8"/>
                  <a:pt x="23" y="24"/>
                </a:cubicBezTo>
                <a:cubicBezTo>
                  <a:pt x="9" y="38"/>
                  <a:pt x="0" y="58"/>
                  <a:pt x="0" y="79"/>
                </a:cubicBezTo>
                <a:cubicBezTo>
                  <a:pt x="0" y="99"/>
                  <a:pt x="9" y="119"/>
                  <a:pt x="23" y="133"/>
                </a:cubicBezTo>
                <a:cubicBezTo>
                  <a:pt x="38" y="148"/>
                  <a:pt x="58" y="156"/>
                  <a:pt x="78" y="156"/>
                </a:cubicBezTo>
                <a:close/>
              </a:path>
            </a:pathLst>
          </a:custGeom>
          <a:solidFill>
            <a:srgbClr val="17233b"/>
          </a:solidFill>
          <a:ln w="7560">
            <a:solidFill>
              <a:srgbClr val="ffffff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5981400" y="1136520"/>
            <a:ext cx="56160" cy="56160"/>
          </a:xfrm>
          <a:custGeom>
            <a:avLst/>
            <a:gdLst/>
            <a:ahLst/>
            <a:rect l="0" t="0" r="r" b="b"/>
            <a:pathLst>
              <a:path w="156" h="156">
                <a:moveTo>
                  <a:pt x="78" y="156"/>
                </a:moveTo>
                <a:cubicBezTo>
                  <a:pt x="99" y="156"/>
                  <a:pt x="119" y="148"/>
                  <a:pt x="133" y="133"/>
                </a:cubicBezTo>
                <a:cubicBezTo>
                  <a:pt x="148" y="119"/>
                  <a:pt x="156" y="99"/>
                  <a:pt x="156" y="79"/>
                </a:cubicBezTo>
                <a:cubicBezTo>
                  <a:pt x="156" y="58"/>
                  <a:pt x="148" y="38"/>
                  <a:pt x="133" y="24"/>
                </a:cubicBezTo>
                <a:cubicBezTo>
                  <a:pt x="119" y="8"/>
                  <a:pt x="99" y="0"/>
                  <a:pt x="78" y="0"/>
                </a:cubicBezTo>
                <a:cubicBezTo>
                  <a:pt x="58" y="0"/>
                  <a:pt x="37" y="8"/>
                  <a:pt x="22" y="24"/>
                </a:cubicBezTo>
                <a:cubicBezTo>
                  <a:pt x="8" y="38"/>
                  <a:pt x="0" y="58"/>
                  <a:pt x="0" y="79"/>
                </a:cubicBezTo>
                <a:cubicBezTo>
                  <a:pt x="0" y="99"/>
                  <a:pt x="8" y="119"/>
                  <a:pt x="22" y="133"/>
                </a:cubicBezTo>
                <a:cubicBezTo>
                  <a:pt x="37" y="148"/>
                  <a:pt x="58" y="156"/>
                  <a:pt x="78" y="156"/>
                </a:cubicBezTo>
                <a:close/>
              </a:path>
            </a:pathLst>
          </a:custGeom>
          <a:solidFill>
            <a:srgbClr val="17233b"/>
          </a:solidFill>
          <a:ln w="7560">
            <a:solidFill>
              <a:srgbClr val="ffffff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6051240" y="112428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31" y="61"/>
                </a:moveTo>
                <a:cubicBezTo>
                  <a:pt x="39" y="61"/>
                  <a:pt x="47" y="58"/>
                  <a:pt x="53" y="52"/>
                </a:cubicBezTo>
                <a:cubicBezTo>
                  <a:pt x="58" y="47"/>
                  <a:pt x="61" y="39"/>
                  <a:pt x="61" y="31"/>
                </a:cubicBezTo>
                <a:cubicBezTo>
                  <a:pt x="61" y="22"/>
                  <a:pt x="58" y="14"/>
                  <a:pt x="53" y="9"/>
                </a:cubicBezTo>
                <a:cubicBezTo>
                  <a:pt x="47" y="3"/>
                  <a:pt x="39" y="0"/>
                  <a:pt x="31" y="0"/>
                </a:cubicBezTo>
                <a:cubicBezTo>
                  <a:pt x="23" y="0"/>
                  <a:pt x="14" y="3"/>
                  <a:pt x="9" y="9"/>
                </a:cubicBezTo>
                <a:cubicBezTo>
                  <a:pt x="3" y="14"/>
                  <a:pt x="0" y="22"/>
                  <a:pt x="0" y="31"/>
                </a:cubicBezTo>
                <a:cubicBezTo>
                  <a:pt x="0" y="39"/>
                  <a:pt x="3" y="47"/>
                  <a:pt x="9" y="52"/>
                </a:cubicBezTo>
                <a:cubicBezTo>
                  <a:pt x="14" y="58"/>
                  <a:pt x="23" y="61"/>
                  <a:pt x="31" y="61"/>
                </a:cubicBezTo>
                <a:close/>
              </a:path>
            </a:pathLst>
          </a:custGeom>
          <a:solidFill>
            <a:srgbClr val="fff3b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200880" y="187200"/>
            <a:ext cx="549360" cy="354600"/>
          </a:xfrm>
          <a:custGeom>
            <a:avLst/>
            <a:gdLst/>
            <a:ahLst/>
            <a:rect l="0" t="0" r="r" b="b"/>
            <a:pathLst>
              <a:path w="1526" h="985">
                <a:moveTo>
                  <a:pt x="0" y="985"/>
                </a:moveTo>
                <a:lnTo>
                  <a:pt x="1526" y="985"/>
                </a:lnTo>
                <a:lnTo>
                  <a:pt x="1526" y="0"/>
                </a:lnTo>
                <a:lnTo>
                  <a:pt x="0" y="0"/>
                </a:lnTo>
                <a:lnTo>
                  <a:pt x="0" y="985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201240" y="185040"/>
            <a:ext cx="548280" cy="356400"/>
          </a:xfrm>
          <a:prstGeom prst="rect">
            <a:avLst/>
          </a:prstGeom>
          <a:ln w="0">
            <a:noFill/>
          </a:ln>
        </p:spPr>
      </p:pic>
      <p:sp>
        <p:nvSpPr>
          <p:cNvPr id="66" name=""/>
          <p:cNvSpPr/>
          <p:nvPr/>
        </p:nvSpPr>
        <p:spPr>
          <a:xfrm>
            <a:off x="426240" y="245520"/>
            <a:ext cx="99360" cy="239040"/>
          </a:xfrm>
          <a:custGeom>
            <a:avLst/>
            <a:gdLst/>
            <a:ahLst/>
            <a:rect l="0" t="0" r="r" b="b"/>
            <a:pathLst>
              <a:path w="276" h="664">
                <a:moveTo>
                  <a:pt x="0" y="0"/>
                </a:moveTo>
                <a:lnTo>
                  <a:pt x="276" y="0"/>
                </a:lnTo>
                <a:lnTo>
                  <a:pt x="276" y="664"/>
                </a:lnTo>
                <a:lnTo>
                  <a:pt x="0" y="664"/>
                </a:lnTo>
                <a:lnTo>
                  <a:pt x="0" y="0"/>
                </a:lnTo>
                <a:close/>
              </a:path>
            </a:pathLst>
          </a:custGeom>
          <a:noFill/>
          <a:ln w="11160">
            <a:solidFill>
              <a:srgbClr val="e34948"/>
            </a:solidFill>
            <a:miter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195480" y="186480"/>
            <a:ext cx="198000" cy="71280"/>
          </a:xfrm>
          <a:custGeom>
            <a:avLst/>
            <a:gdLst/>
            <a:ahLst/>
            <a:rect l="0" t="0" r="r" b="b"/>
            <a:pathLst>
              <a:path w="550" h="198">
                <a:moveTo>
                  <a:pt x="0" y="198"/>
                </a:moveTo>
                <a:lnTo>
                  <a:pt x="550" y="198"/>
                </a:lnTo>
                <a:lnTo>
                  <a:pt x="550" y="0"/>
                </a:lnTo>
                <a:lnTo>
                  <a:pt x="0" y="0"/>
                </a:lnTo>
                <a:lnTo>
                  <a:pt x="0" y="198"/>
                </a:lnTo>
                <a:close/>
              </a:path>
            </a:pathLst>
          </a:custGeom>
          <a:solidFill>
            <a:srgbClr val="1f4e79">
              <a:alpha val="8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5832000" y="1225080"/>
            <a:ext cx="166680" cy="50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00" spc="-1" strike="noStrike">
                <a:solidFill>
                  <a:srgbClr val="52514e"/>
                </a:solidFill>
                <a:latin typeface="NimbusRoman"/>
                <a:ea typeface="NimbusRoman"/>
              </a:rPr>
              <a:t>new site</a:t>
            </a:r>
            <a:endParaRPr b="0" lang="en-US" sz="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205560" y="201600"/>
            <a:ext cx="145440" cy="4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80" spc="-1" strike="noStrike">
                <a:solidFill>
                  <a:srgbClr val="ffffff"/>
                </a:solidFill>
                <a:latin typeface="NimbusRoman"/>
                <a:ea typeface="NimbusRoman"/>
              </a:rPr>
              <a:t>logged </a:t>
            </a:r>
            <a:endParaRPr b="0" lang="en-US" sz="3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196200" y="482760"/>
            <a:ext cx="490680" cy="63720"/>
          </a:xfrm>
          <a:custGeom>
            <a:avLst/>
            <a:gdLst/>
            <a:ahLst/>
            <a:rect l="0" t="0" r="r" b="b"/>
            <a:pathLst>
              <a:path w="1363" h="177">
                <a:moveTo>
                  <a:pt x="0" y="177"/>
                </a:moveTo>
                <a:lnTo>
                  <a:pt x="1363" y="177"/>
                </a:lnTo>
                <a:lnTo>
                  <a:pt x="1363" y="0"/>
                </a:lnTo>
                <a:lnTo>
                  <a:pt x="0" y="0"/>
                </a:lnTo>
                <a:lnTo>
                  <a:pt x="0" y="177"/>
                </a:lnTo>
                <a:close/>
              </a:path>
            </a:pathLst>
          </a:custGeom>
          <a:solidFill>
            <a:srgbClr val="000000">
              <a:alpha val="5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347760" y="182880"/>
            <a:ext cx="47520" cy="6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380" spc="-1" strike="noStrike">
                <a:solidFill>
                  <a:srgbClr val="ffffff"/>
                </a:solidFill>
                <a:latin typeface="STIXGeneral"/>
                <a:ea typeface="STIXGeneral"/>
              </a:rPr>
              <a:t>O</a:t>
            </a:r>
            <a:endParaRPr b="0" lang="en-US" sz="3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200880" y="573480"/>
            <a:ext cx="549360" cy="354240"/>
          </a:xfrm>
          <a:custGeom>
            <a:avLst/>
            <a:gdLst/>
            <a:ahLst/>
            <a:rect l="0" t="0" r="r" b="b"/>
            <a:pathLst>
              <a:path w="1526" h="984">
                <a:moveTo>
                  <a:pt x="0" y="984"/>
                </a:moveTo>
                <a:lnTo>
                  <a:pt x="1526" y="984"/>
                </a:lnTo>
                <a:lnTo>
                  <a:pt x="1526" y="0"/>
                </a:lnTo>
                <a:lnTo>
                  <a:pt x="0" y="0"/>
                </a:lnTo>
                <a:lnTo>
                  <a:pt x="0" y="98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73" name="" descr=""/>
          <p:cNvPicPr/>
          <p:nvPr/>
        </p:nvPicPr>
        <p:blipFill>
          <a:blip r:embed="rId2"/>
          <a:stretch/>
        </p:blipFill>
        <p:spPr>
          <a:xfrm>
            <a:off x="201240" y="570960"/>
            <a:ext cx="548280" cy="356400"/>
          </a:xfrm>
          <a:prstGeom prst="rect">
            <a:avLst/>
          </a:prstGeom>
          <a:ln w="0">
            <a:noFill/>
          </a:ln>
        </p:spPr>
      </p:pic>
      <p:sp>
        <p:nvSpPr>
          <p:cNvPr id="74" name=""/>
          <p:cNvSpPr/>
          <p:nvPr/>
        </p:nvSpPr>
        <p:spPr>
          <a:xfrm>
            <a:off x="195480" y="572400"/>
            <a:ext cx="236160" cy="71280"/>
          </a:xfrm>
          <a:custGeom>
            <a:avLst/>
            <a:gdLst/>
            <a:ahLst/>
            <a:rect l="0" t="0" r="r" b="b"/>
            <a:pathLst>
              <a:path w="656" h="198">
                <a:moveTo>
                  <a:pt x="0" y="198"/>
                </a:moveTo>
                <a:lnTo>
                  <a:pt x="656" y="198"/>
                </a:lnTo>
                <a:lnTo>
                  <a:pt x="656" y="0"/>
                </a:lnTo>
                <a:lnTo>
                  <a:pt x="0" y="0"/>
                </a:lnTo>
                <a:lnTo>
                  <a:pt x="0" y="198"/>
                </a:lnTo>
                <a:close/>
              </a:path>
            </a:pathLst>
          </a:custGeom>
          <a:solidFill>
            <a:srgbClr val="2e75b6">
              <a:alpha val="8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205560" y="496440"/>
            <a:ext cx="477720" cy="4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50" spc="-1" strike="noStrike">
                <a:solidFill>
                  <a:srgbClr val="ffffff"/>
                </a:solidFill>
                <a:latin typeface="NimbusRoman"/>
                <a:ea typeface="NimbusRoman"/>
              </a:rPr>
              <a:t>detector: pedestrian found</a:t>
            </a:r>
            <a:endParaRPr b="0" lang="en-US" sz="3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205560" y="587520"/>
            <a:ext cx="182160" cy="4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80" spc="-1" strike="noStrike">
                <a:solidFill>
                  <a:srgbClr val="ffffff"/>
                </a:solidFill>
                <a:latin typeface="NimbusRoman"/>
                <a:ea typeface="NimbusRoman"/>
              </a:rPr>
              <a:t>removed </a:t>
            </a:r>
            <a:endParaRPr b="0" lang="en-US" sz="3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196200" y="868680"/>
            <a:ext cx="362520" cy="63720"/>
          </a:xfrm>
          <a:custGeom>
            <a:avLst/>
            <a:gdLst/>
            <a:ahLst/>
            <a:rect l="0" t="0" r="r" b="b"/>
            <a:pathLst>
              <a:path w="1007" h="177">
                <a:moveTo>
                  <a:pt x="0" y="177"/>
                </a:moveTo>
                <a:lnTo>
                  <a:pt x="1007" y="177"/>
                </a:lnTo>
                <a:lnTo>
                  <a:pt x="1007" y="0"/>
                </a:lnTo>
                <a:lnTo>
                  <a:pt x="0" y="0"/>
                </a:lnTo>
                <a:lnTo>
                  <a:pt x="0" y="177"/>
                </a:lnTo>
                <a:close/>
              </a:path>
            </a:pathLst>
          </a:custGeom>
          <a:solidFill>
            <a:srgbClr val="000000">
              <a:alpha val="5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384840" y="568800"/>
            <a:ext cx="47520" cy="6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380" spc="-1" strike="noStrike">
                <a:solidFill>
                  <a:srgbClr val="ffffff"/>
                </a:solidFill>
                <a:latin typeface="STIXGeneral"/>
                <a:ea typeface="STIXGeneral"/>
              </a:rPr>
              <a:t>R</a:t>
            </a:r>
            <a:endParaRPr b="0" lang="en-US" sz="3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200880" y="959400"/>
            <a:ext cx="549360" cy="354240"/>
          </a:xfrm>
          <a:custGeom>
            <a:avLst/>
            <a:gdLst/>
            <a:ahLst/>
            <a:rect l="0" t="0" r="r" b="b"/>
            <a:pathLst>
              <a:path w="1526" h="984">
                <a:moveTo>
                  <a:pt x="0" y="984"/>
                </a:moveTo>
                <a:lnTo>
                  <a:pt x="1526" y="984"/>
                </a:lnTo>
                <a:lnTo>
                  <a:pt x="1526" y="0"/>
                </a:lnTo>
                <a:lnTo>
                  <a:pt x="0" y="0"/>
                </a:lnTo>
                <a:lnTo>
                  <a:pt x="0" y="984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80" name="" descr=""/>
          <p:cNvPicPr/>
          <p:nvPr/>
        </p:nvPicPr>
        <p:blipFill>
          <a:blip r:embed="rId3"/>
          <a:stretch/>
        </p:blipFill>
        <p:spPr>
          <a:xfrm>
            <a:off x="201240" y="956880"/>
            <a:ext cx="548280" cy="35640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195480" y="958680"/>
            <a:ext cx="160200" cy="71280"/>
          </a:xfrm>
          <a:custGeom>
            <a:avLst/>
            <a:gdLst/>
            <a:ahLst/>
            <a:rect l="0" t="0" r="r" b="b"/>
            <a:pathLst>
              <a:path w="445" h="198">
                <a:moveTo>
                  <a:pt x="0" y="198"/>
                </a:moveTo>
                <a:lnTo>
                  <a:pt x="445" y="198"/>
                </a:lnTo>
                <a:lnTo>
                  <a:pt x="445" y="0"/>
                </a:lnTo>
                <a:lnTo>
                  <a:pt x="0" y="0"/>
                </a:lnTo>
                <a:lnTo>
                  <a:pt x="0" y="198"/>
                </a:lnTo>
                <a:close/>
              </a:path>
            </a:pathLst>
          </a:custGeom>
          <a:solidFill>
            <a:srgbClr val="17233b">
              <a:alpha val="88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205560" y="882360"/>
            <a:ext cx="348120" cy="4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50" spc="-1" strike="noStrike">
                <a:solidFill>
                  <a:srgbClr val="ffffff"/>
                </a:solidFill>
                <a:latin typeface="NimbusRoman"/>
                <a:ea typeface="NimbusRoman"/>
              </a:rPr>
              <a:t>detector: not found</a:t>
            </a:r>
            <a:endParaRPr b="0" lang="en-US" sz="3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205560" y="973440"/>
            <a:ext cx="107280" cy="489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80" spc="-1" strike="noStrike">
                <a:solidFill>
                  <a:srgbClr val="ffffff"/>
                </a:solidFill>
                <a:latin typeface="NimbusRoman"/>
                <a:ea typeface="NimbusRoman"/>
              </a:rPr>
              <a:t>re-lit </a:t>
            </a:r>
            <a:endParaRPr b="0" lang="en-US" sz="3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196200" y="1254600"/>
            <a:ext cx="372600" cy="63720"/>
          </a:xfrm>
          <a:custGeom>
            <a:avLst/>
            <a:gdLst/>
            <a:ahLst/>
            <a:rect l="0" t="0" r="r" b="b"/>
            <a:pathLst>
              <a:path w="1035" h="177">
                <a:moveTo>
                  <a:pt x="0" y="177"/>
                </a:moveTo>
                <a:lnTo>
                  <a:pt x="1035" y="177"/>
                </a:lnTo>
                <a:lnTo>
                  <a:pt x="1035" y="0"/>
                </a:lnTo>
                <a:lnTo>
                  <a:pt x="0" y="0"/>
                </a:lnTo>
                <a:lnTo>
                  <a:pt x="0" y="177"/>
                </a:lnTo>
                <a:close/>
              </a:path>
            </a:pathLst>
          </a:custGeom>
          <a:solidFill>
            <a:srgbClr val="000000">
              <a:alpha val="5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310320" y="955080"/>
            <a:ext cx="47520" cy="65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380" spc="-1" strike="noStrike">
                <a:solidFill>
                  <a:srgbClr val="ffffff"/>
                </a:solidFill>
                <a:latin typeface="STIXGeneral"/>
                <a:ea typeface="STIXGeneral"/>
              </a:rPr>
              <a:t>N</a:t>
            </a:r>
            <a:endParaRPr b="0" lang="en-US" sz="3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1225080" y="264960"/>
            <a:ext cx="869040" cy="907200"/>
          </a:xfrm>
          <a:custGeom>
            <a:avLst/>
            <a:gdLst/>
            <a:ahLst/>
            <a:rect l="0" t="0" r="r" b="b"/>
            <a:pathLst>
              <a:path w="2414" h="2520">
                <a:moveTo>
                  <a:pt x="0" y="2520"/>
                </a:moveTo>
                <a:lnTo>
                  <a:pt x="2414" y="2520"/>
                </a:lnTo>
                <a:lnTo>
                  <a:pt x="2414" y="0"/>
                </a:lnTo>
                <a:lnTo>
                  <a:pt x="0" y="0"/>
                </a:lnTo>
                <a:lnTo>
                  <a:pt x="0" y="252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1562760" y="264960"/>
            <a:ext cx="193680" cy="907200"/>
          </a:xfrm>
          <a:custGeom>
            <a:avLst/>
            <a:gdLst/>
            <a:ahLst/>
            <a:rect l="0" t="0" r="r" b="b"/>
            <a:pathLst>
              <a:path w="538" h="2520">
                <a:moveTo>
                  <a:pt x="0" y="2520"/>
                </a:moveTo>
                <a:lnTo>
                  <a:pt x="538" y="2520"/>
                </a:lnTo>
                <a:lnTo>
                  <a:pt x="538" y="0"/>
                </a:lnTo>
                <a:lnTo>
                  <a:pt x="0" y="0"/>
                </a:lnTo>
                <a:lnTo>
                  <a:pt x="0" y="2520"/>
                </a:lnTo>
                <a:close/>
              </a:path>
            </a:pathLst>
          </a:custGeom>
          <a:solidFill>
            <a:srgbClr val="eef1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1533960" y="403200"/>
            <a:ext cx="126000" cy="713520"/>
          </a:xfrm>
          <a:custGeom>
            <a:avLst/>
            <a:gdLst/>
            <a:ahLst/>
            <a:rect l="0" t="0" r="r" b="b"/>
            <a:pathLst>
              <a:path fill="none" w="350" h="1982">
                <a:moveTo>
                  <a:pt x="350" y="1982"/>
                </a:moveTo>
                <a:lnTo>
                  <a:pt x="349" y="1949"/>
                </a:lnTo>
                <a:lnTo>
                  <a:pt x="347" y="1915"/>
                </a:lnTo>
                <a:lnTo>
                  <a:pt x="346" y="1881"/>
                </a:lnTo>
                <a:lnTo>
                  <a:pt x="343" y="1847"/>
                </a:lnTo>
                <a:lnTo>
                  <a:pt x="341" y="1813"/>
                </a:lnTo>
                <a:lnTo>
                  <a:pt x="338" y="1780"/>
                </a:lnTo>
                <a:lnTo>
                  <a:pt x="335" y="1746"/>
                </a:lnTo>
                <a:lnTo>
                  <a:pt x="332" y="1712"/>
                </a:lnTo>
                <a:lnTo>
                  <a:pt x="329" y="1679"/>
                </a:lnTo>
                <a:lnTo>
                  <a:pt x="325" y="1645"/>
                </a:lnTo>
                <a:lnTo>
                  <a:pt x="322" y="1612"/>
                </a:lnTo>
                <a:lnTo>
                  <a:pt x="318" y="1578"/>
                </a:lnTo>
                <a:lnTo>
                  <a:pt x="314" y="1544"/>
                </a:lnTo>
                <a:lnTo>
                  <a:pt x="309" y="1511"/>
                </a:lnTo>
                <a:lnTo>
                  <a:pt x="305" y="1477"/>
                </a:lnTo>
                <a:lnTo>
                  <a:pt x="300" y="1444"/>
                </a:lnTo>
                <a:lnTo>
                  <a:pt x="296" y="1410"/>
                </a:lnTo>
                <a:lnTo>
                  <a:pt x="291" y="1377"/>
                </a:lnTo>
                <a:lnTo>
                  <a:pt x="286" y="1343"/>
                </a:lnTo>
                <a:lnTo>
                  <a:pt x="281" y="1309"/>
                </a:lnTo>
                <a:lnTo>
                  <a:pt x="276" y="1276"/>
                </a:lnTo>
                <a:lnTo>
                  <a:pt x="270" y="1242"/>
                </a:lnTo>
                <a:lnTo>
                  <a:pt x="265" y="1209"/>
                </a:lnTo>
                <a:lnTo>
                  <a:pt x="259" y="1175"/>
                </a:lnTo>
                <a:lnTo>
                  <a:pt x="253" y="1141"/>
                </a:lnTo>
                <a:lnTo>
                  <a:pt x="248" y="1108"/>
                </a:lnTo>
                <a:lnTo>
                  <a:pt x="242" y="1074"/>
                </a:lnTo>
                <a:lnTo>
                  <a:pt x="236" y="1041"/>
                </a:lnTo>
                <a:lnTo>
                  <a:pt x="229" y="1007"/>
                </a:lnTo>
                <a:lnTo>
                  <a:pt x="223" y="974"/>
                </a:lnTo>
                <a:lnTo>
                  <a:pt x="217" y="940"/>
                </a:lnTo>
                <a:lnTo>
                  <a:pt x="210" y="906"/>
                </a:lnTo>
                <a:lnTo>
                  <a:pt x="204" y="873"/>
                </a:lnTo>
                <a:lnTo>
                  <a:pt x="197" y="839"/>
                </a:lnTo>
                <a:lnTo>
                  <a:pt x="190" y="806"/>
                </a:lnTo>
                <a:lnTo>
                  <a:pt x="183" y="772"/>
                </a:lnTo>
                <a:lnTo>
                  <a:pt x="177" y="738"/>
                </a:lnTo>
                <a:lnTo>
                  <a:pt x="169" y="705"/>
                </a:lnTo>
                <a:lnTo>
                  <a:pt x="162" y="671"/>
                </a:lnTo>
                <a:lnTo>
                  <a:pt x="155" y="638"/>
                </a:lnTo>
                <a:lnTo>
                  <a:pt x="148" y="604"/>
                </a:lnTo>
                <a:lnTo>
                  <a:pt x="140" y="571"/>
                </a:lnTo>
                <a:lnTo>
                  <a:pt x="133" y="537"/>
                </a:lnTo>
                <a:lnTo>
                  <a:pt x="125" y="503"/>
                </a:lnTo>
                <a:lnTo>
                  <a:pt x="117" y="470"/>
                </a:lnTo>
                <a:lnTo>
                  <a:pt x="110" y="436"/>
                </a:lnTo>
                <a:lnTo>
                  <a:pt x="102" y="403"/>
                </a:lnTo>
                <a:lnTo>
                  <a:pt x="94" y="369"/>
                </a:lnTo>
                <a:lnTo>
                  <a:pt x="85" y="335"/>
                </a:lnTo>
                <a:lnTo>
                  <a:pt x="77" y="302"/>
                </a:lnTo>
                <a:lnTo>
                  <a:pt x="68" y="268"/>
                </a:lnTo>
                <a:lnTo>
                  <a:pt x="60" y="235"/>
                </a:lnTo>
                <a:lnTo>
                  <a:pt x="52" y="201"/>
                </a:lnTo>
                <a:lnTo>
                  <a:pt x="43" y="168"/>
                </a:lnTo>
                <a:lnTo>
                  <a:pt x="35" y="134"/>
                </a:lnTo>
                <a:lnTo>
                  <a:pt x="26" y="100"/>
                </a:lnTo>
                <a:lnTo>
                  <a:pt x="18" y="67"/>
                </a:lnTo>
                <a:lnTo>
                  <a:pt x="9" y="33"/>
                </a:lnTo>
                <a:lnTo>
                  <a:pt x="0" y="0"/>
                </a:lnTo>
              </a:path>
            </a:pathLst>
          </a:custGeom>
          <a:ln w="13680">
            <a:solidFill>
              <a:srgbClr val="8c9bab"/>
            </a:solidFill>
            <a:custDash>
              <a:ds d="263158" sp="163158"/>
            </a:custDash>
            <a:round/>
          </a:ln>
        </p:spPr>
        <p:txBody>
          <a:bodyPr lIns="6840" rIns="6840" tIns="6840" bIns="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1659600" y="380160"/>
            <a:ext cx="0" cy="736200"/>
          </a:xfrm>
          <a:custGeom>
            <a:avLst/>
            <a:gdLst/>
            <a:ahLst/>
            <a:rect l="0" t="0" r="r" b="b"/>
            <a:pathLst>
              <a:path fill="none" w="0" h="2045">
                <a:moveTo>
                  <a:pt x="0" y="2045"/>
                </a:moveTo>
                <a:lnTo>
                  <a:pt x="0" y="2010"/>
                </a:lnTo>
                <a:lnTo>
                  <a:pt x="0" y="1976"/>
                </a:lnTo>
                <a:lnTo>
                  <a:pt x="0" y="1941"/>
                </a:lnTo>
                <a:lnTo>
                  <a:pt x="0" y="1906"/>
                </a:lnTo>
                <a:lnTo>
                  <a:pt x="0" y="1872"/>
                </a:lnTo>
                <a:lnTo>
                  <a:pt x="0" y="1837"/>
                </a:lnTo>
                <a:lnTo>
                  <a:pt x="0" y="1802"/>
                </a:lnTo>
                <a:lnTo>
                  <a:pt x="0" y="1768"/>
                </a:lnTo>
                <a:lnTo>
                  <a:pt x="0" y="1733"/>
                </a:lnTo>
                <a:lnTo>
                  <a:pt x="0" y="1698"/>
                </a:lnTo>
                <a:lnTo>
                  <a:pt x="0" y="1664"/>
                </a:lnTo>
                <a:lnTo>
                  <a:pt x="0" y="1629"/>
                </a:lnTo>
                <a:lnTo>
                  <a:pt x="0" y="1594"/>
                </a:lnTo>
                <a:lnTo>
                  <a:pt x="0" y="1560"/>
                </a:lnTo>
                <a:lnTo>
                  <a:pt x="0" y="1525"/>
                </a:lnTo>
                <a:lnTo>
                  <a:pt x="0" y="1490"/>
                </a:lnTo>
                <a:lnTo>
                  <a:pt x="0" y="1456"/>
                </a:lnTo>
                <a:lnTo>
                  <a:pt x="0" y="1421"/>
                </a:lnTo>
                <a:lnTo>
                  <a:pt x="0" y="1386"/>
                </a:lnTo>
                <a:lnTo>
                  <a:pt x="0" y="1352"/>
                </a:lnTo>
                <a:lnTo>
                  <a:pt x="0" y="1317"/>
                </a:lnTo>
                <a:lnTo>
                  <a:pt x="0" y="1282"/>
                </a:lnTo>
                <a:lnTo>
                  <a:pt x="0" y="1248"/>
                </a:lnTo>
                <a:lnTo>
                  <a:pt x="0" y="1213"/>
                </a:lnTo>
                <a:lnTo>
                  <a:pt x="0" y="1178"/>
                </a:lnTo>
                <a:lnTo>
                  <a:pt x="0" y="1144"/>
                </a:lnTo>
                <a:lnTo>
                  <a:pt x="0" y="1109"/>
                </a:lnTo>
                <a:lnTo>
                  <a:pt x="0" y="1074"/>
                </a:lnTo>
                <a:lnTo>
                  <a:pt x="0" y="1040"/>
                </a:lnTo>
                <a:lnTo>
                  <a:pt x="0" y="1005"/>
                </a:lnTo>
                <a:lnTo>
                  <a:pt x="0" y="970"/>
                </a:lnTo>
                <a:lnTo>
                  <a:pt x="0" y="936"/>
                </a:lnTo>
                <a:lnTo>
                  <a:pt x="0" y="901"/>
                </a:lnTo>
                <a:lnTo>
                  <a:pt x="0" y="866"/>
                </a:lnTo>
                <a:lnTo>
                  <a:pt x="0" y="832"/>
                </a:lnTo>
                <a:lnTo>
                  <a:pt x="0" y="797"/>
                </a:lnTo>
                <a:lnTo>
                  <a:pt x="0" y="762"/>
                </a:lnTo>
                <a:lnTo>
                  <a:pt x="0" y="728"/>
                </a:lnTo>
                <a:lnTo>
                  <a:pt x="0" y="693"/>
                </a:lnTo>
                <a:lnTo>
                  <a:pt x="0" y="658"/>
                </a:lnTo>
                <a:lnTo>
                  <a:pt x="0" y="624"/>
                </a:lnTo>
                <a:lnTo>
                  <a:pt x="0" y="589"/>
                </a:lnTo>
                <a:lnTo>
                  <a:pt x="0" y="554"/>
                </a:lnTo>
                <a:lnTo>
                  <a:pt x="0" y="520"/>
                </a:lnTo>
                <a:lnTo>
                  <a:pt x="0" y="485"/>
                </a:lnTo>
                <a:lnTo>
                  <a:pt x="0" y="450"/>
                </a:lnTo>
                <a:lnTo>
                  <a:pt x="0" y="416"/>
                </a:lnTo>
                <a:lnTo>
                  <a:pt x="0" y="381"/>
                </a:lnTo>
                <a:lnTo>
                  <a:pt x="0" y="346"/>
                </a:lnTo>
                <a:lnTo>
                  <a:pt x="0" y="312"/>
                </a:lnTo>
                <a:lnTo>
                  <a:pt x="0" y="277"/>
                </a:lnTo>
                <a:lnTo>
                  <a:pt x="0" y="242"/>
                </a:lnTo>
                <a:lnTo>
                  <a:pt x="0" y="208"/>
                </a:lnTo>
                <a:lnTo>
                  <a:pt x="0" y="173"/>
                </a:lnTo>
                <a:lnTo>
                  <a:pt x="0" y="138"/>
                </a:lnTo>
                <a:lnTo>
                  <a:pt x="0" y="104"/>
                </a:lnTo>
                <a:lnTo>
                  <a:pt x="0" y="69"/>
                </a:lnTo>
                <a:lnTo>
                  <a:pt x="0" y="34"/>
                </a:lnTo>
                <a:lnTo>
                  <a:pt x="0" y="0"/>
                </a:lnTo>
              </a:path>
            </a:pathLst>
          </a:custGeom>
          <a:ln w="13680">
            <a:solidFill>
              <a:srgbClr val="5b9bd5"/>
            </a:solidFill>
            <a:custDash>
              <a:ds d="263158" sp="163158"/>
            </a:custDash>
            <a:round/>
          </a:ln>
        </p:spPr>
        <p:txBody>
          <a:bodyPr lIns="6840" rIns="6840" tIns="6840" bIns="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205560" y="1268280"/>
            <a:ext cx="357480" cy="4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350" spc="-1" strike="noStrike">
                <a:solidFill>
                  <a:srgbClr val="ffffff"/>
                </a:solidFill>
                <a:latin typeface="NimbusRoman"/>
                <a:ea typeface="NimbusRoman"/>
              </a:rPr>
              <a:t>detector: still found</a:t>
            </a:r>
            <a:endParaRPr b="0" lang="en-US" sz="35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1659600" y="426240"/>
            <a:ext cx="154800" cy="690480"/>
          </a:xfrm>
          <a:custGeom>
            <a:avLst/>
            <a:gdLst/>
            <a:ahLst/>
            <a:rect l="0" t="0" r="r" b="b"/>
            <a:pathLst>
              <a:path fill="none" w="430" h="1918">
                <a:moveTo>
                  <a:pt x="0" y="1918"/>
                </a:moveTo>
                <a:lnTo>
                  <a:pt x="0" y="1886"/>
                </a:lnTo>
                <a:lnTo>
                  <a:pt x="0" y="1853"/>
                </a:lnTo>
                <a:lnTo>
                  <a:pt x="0" y="1821"/>
                </a:lnTo>
                <a:lnTo>
                  <a:pt x="1" y="1788"/>
                </a:lnTo>
                <a:lnTo>
                  <a:pt x="1" y="1756"/>
                </a:lnTo>
                <a:lnTo>
                  <a:pt x="2" y="1723"/>
                </a:lnTo>
                <a:lnTo>
                  <a:pt x="4" y="1690"/>
                </a:lnTo>
                <a:lnTo>
                  <a:pt x="5" y="1657"/>
                </a:lnTo>
                <a:lnTo>
                  <a:pt x="6" y="1625"/>
                </a:lnTo>
                <a:lnTo>
                  <a:pt x="8" y="1592"/>
                </a:lnTo>
                <a:lnTo>
                  <a:pt x="10" y="1560"/>
                </a:lnTo>
                <a:lnTo>
                  <a:pt x="13" y="1527"/>
                </a:lnTo>
                <a:lnTo>
                  <a:pt x="15" y="1495"/>
                </a:lnTo>
                <a:lnTo>
                  <a:pt x="18" y="1462"/>
                </a:lnTo>
                <a:lnTo>
                  <a:pt x="21" y="1430"/>
                </a:lnTo>
                <a:lnTo>
                  <a:pt x="24" y="1397"/>
                </a:lnTo>
                <a:lnTo>
                  <a:pt x="27" y="1365"/>
                </a:lnTo>
                <a:lnTo>
                  <a:pt x="31" y="1332"/>
                </a:lnTo>
                <a:lnTo>
                  <a:pt x="35" y="1300"/>
                </a:lnTo>
                <a:lnTo>
                  <a:pt x="39" y="1267"/>
                </a:lnTo>
                <a:lnTo>
                  <a:pt x="44" y="1235"/>
                </a:lnTo>
                <a:lnTo>
                  <a:pt x="49" y="1202"/>
                </a:lnTo>
                <a:lnTo>
                  <a:pt x="54" y="1170"/>
                </a:lnTo>
                <a:lnTo>
                  <a:pt x="59" y="1137"/>
                </a:lnTo>
                <a:lnTo>
                  <a:pt x="64" y="1105"/>
                </a:lnTo>
                <a:lnTo>
                  <a:pt x="70" y="1072"/>
                </a:lnTo>
                <a:lnTo>
                  <a:pt x="76" y="1040"/>
                </a:lnTo>
                <a:lnTo>
                  <a:pt x="83" y="1007"/>
                </a:lnTo>
                <a:lnTo>
                  <a:pt x="90" y="975"/>
                </a:lnTo>
                <a:lnTo>
                  <a:pt x="96" y="942"/>
                </a:lnTo>
                <a:lnTo>
                  <a:pt x="104" y="910"/>
                </a:lnTo>
                <a:lnTo>
                  <a:pt x="111" y="877"/>
                </a:lnTo>
                <a:lnTo>
                  <a:pt x="119" y="845"/>
                </a:lnTo>
                <a:lnTo>
                  <a:pt x="127" y="812"/>
                </a:lnTo>
                <a:lnTo>
                  <a:pt x="136" y="780"/>
                </a:lnTo>
                <a:lnTo>
                  <a:pt x="144" y="747"/>
                </a:lnTo>
                <a:lnTo>
                  <a:pt x="153" y="715"/>
                </a:lnTo>
                <a:lnTo>
                  <a:pt x="163" y="682"/>
                </a:lnTo>
                <a:lnTo>
                  <a:pt x="172" y="650"/>
                </a:lnTo>
                <a:lnTo>
                  <a:pt x="182" y="617"/>
                </a:lnTo>
                <a:lnTo>
                  <a:pt x="192" y="585"/>
                </a:lnTo>
                <a:lnTo>
                  <a:pt x="203" y="552"/>
                </a:lnTo>
                <a:lnTo>
                  <a:pt x="213" y="520"/>
                </a:lnTo>
                <a:lnTo>
                  <a:pt x="225" y="487"/>
                </a:lnTo>
                <a:lnTo>
                  <a:pt x="236" y="455"/>
                </a:lnTo>
                <a:lnTo>
                  <a:pt x="248" y="422"/>
                </a:lnTo>
                <a:lnTo>
                  <a:pt x="260" y="390"/>
                </a:lnTo>
                <a:lnTo>
                  <a:pt x="272" y="357"/>
                </a:lnTo>
                <a:lnTo>
                  <a:pt x="285" y="325"/>
                </a:lnTo>
                <a:lnTo>
                  <a:pt x="298" y="292"/>
                </a:lnTo>
                <a:lnTo>
                  <a:pt x="311" y="260"/>
                </a:lnTo>
                <a:lnTo>
                  <a:pt x="326" y="227"/>
                </a:lnTo>
                <a:lnTo>
                  <a:pt x="339" y="195"/>
                </a:lnTo>
                <a:lnTo>
                  <a:pt x="354" y="162"/>
                </a:lnTo>
                <a:lnTo>
                  <a:pt x="368" y="130"/>
                </a:lnTo>
                <a:lnTo>
                  <a:pt x="383" y="97"/>
                </a:lnTo>
                <a:lnTo>
                  <a:pt x="398" y="65"/>
                </a:lnTo>
                <a:lnTo>
                  <a:pt x="414" y="32"/>
                </a:lnTo>
                <a:lnTo>
                  <a:pt x="430" y="0"/>
                </a:lnTo>
              </a:path>
            </a:pathLst>
          </a:custGeom>
          <a:ln cap="sq" w="20160">
            <a:solidFill>
              <a:srgbClr val="1f4e79"/>
            </a:solidFill>
            <a:round/>
          </a:ln>
        </p:spPr>
        <p:txBody>
          <a:bodyPr lIns="10080" rIns="10080" tIns="10080" bIns="10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 flipV="1">
            <a:off x="1408680" y="499680"/>
            <a:ext cx="308880" cy="87840"/>
          </a:xfrm>
          <a:prstGeom prst="line">
            <a:avLst/>
          </a:prstGeom>
          <a:ln w="12600">
            <a:solidFill>
              <a:srgbClr val="17233b"/>
            </a:solidFill>
            <a:custDash>
              <a:ds d="128571" sp="128571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1761120" y="870840"/>
            <a:ext cx="61200" cy="0"/>
          </a:xfrm>
          <a:custGeom>
            <a:avLst/>
            <a:gdLst/>
            <a:ahLst/>
            <a:rect l="0" t="0" r="r" b="b"/>
            <a:pathLst>
              <a:path fill="none" w="170" h="0">
                <a:moveTo>
                  <a:pt x="0" y="0"/>
                </a:moveTo>
                <a:lnTo>
                  <a:pt x="85" y="0"/>
                </a:lnTo>
                <a:lnTo>
                  <a:pt x="170" y="0"/>
                </a:lnTo>
              </a:path>
            </a:pathLst>
          </a:custGeom>
          <a:ln cap="sq" w="20160">
            <a:solidFill>
              <a:srgbClr val="1f4e79"/>
            </a:solidFill>
            <a:round/>
          </a:ln>
        </p:spPr>
        <p:txBody>
          <a:bodyPr lIns="10080" rIns="10080" tIns="-10080" bIns="-100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225440" y="192240"/>
            <a:ext cx="75672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20" spc="-1" strike="noStrike">
                <a:solidFill>
                  <a:srgbClr val="000000"/>
                </a:solidFill>
                <a:latin typeface="NimbusRoman"/>
                <a:ea typeface="NimbusRoman"/>
              </a:rPr>
              <a:t>three queries, one scene</a:t>
            </a:r>
            <a:endParaRPr b="0" lang="en-US" sz="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841040" y="846720"/>
            <a:ext cx="19584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80" spc="-1" strike="noStrike">
                <a:solidFill>
                  <a:srgbClr val="000000"/>
                </a:solidFill>
                <a:latin typeface="NimbusRoman"/>
                <a:ea typeface="NimbusRoman"/>
              </a:rPr>
              <a:t>plan on 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1761120" y="955800"/>
            <a:ext cx="61200" cy="0"/>
          </a:xfrm>
          <a:custGeom>
            <a:avLst/>
            <a:gdLst/>
            <a:ahLst/>
            <a:rect l="0" t="0" r="r" b="b"/>
            <a:pathLst>
              <a:path fill="none" w="170" h="0">
                <a:moveTo>
                  <a:pt x="0" y="0"/>
                </a:moveTo>
                <a:lnTo>
                  <a:pt x="85" y="0"/>
                </a:lnTo>
                <a:lnTo>
                  <a:pt x="170" y="0"/>
                </a:lnTo>
              </a:path>
            </a:pathLst>
          </a:custGeom>
          <a:ln w="13680">
            <a:solidFill>
              <a:srgbClr val="5b9bd5"/>
            </a:solidFill>
            <a:custDash>
              <a:ds d="263158" sp="163158"/>
            </a:custDash>
            <a:round/>
          </a:ln>
        </p:spPr>
        <p:txBody>
          <a:bodyPr lIns="6840" rIns="6840" tIns="-6840" bIns="-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2038680" y="822960"/>
            <a:ext cx="6084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480" spc="-1" strike="noStrike">
                <a:solidFill>
                  <a:srgbClr val="000000"/>
                </a:solidFill>
                <a:latin typeface="STIXGeneral"/>
                <a:ea typeface="STIXGeneral"/>
              </a:rPr>
              <a:t>O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1841040" y="931320"/>
            <a:ext cx="19584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80" spc="-1" strike="noStrike">
                <a:solidFill>
                  <a:srgbClr val="000000"/>
                </a:solidFill>
                <a:latin typeface="NimbusRoman"/>
                <a:ea typeface="NimbusRoman"/>
              </a:rPr>
              <a:t>plan on 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1761120" y="1040400"/>
            <a:ext cx="61200" cy="0"/>
          </a:xfrm>
          <a:custGeom>
            <a:avLst/>
            <a:gdLst/>
            <a:ahLst/>
            <a:rect l="0" t="0" r="r" b="b"/>
            <a:pathLst>
              <a:path fill="none" w="170" h="0">
                <a:moveTo>
                  <a:pt x="0" y="0"/>
                </a:moveTo>
                <a:lnTo>
                  <a:pt x="85" y="0"/>
                </a:lnTo>
                <a:lnTo>
                  <a:pt x="170" y="0"/>
                </a:lnTo>
              </a:path>
            </a:pathLst>
          </a:custGeom>
          <a:ln w="13680">
            <a:solidFill>
              <a:srgbClr val="8c9bab"/>
            </a:solidFill>
            <a:custDash>
              <a:ds d="263158" sp="163158"/>
            </a:custDash>
            <a:round/>
          </a:ln>
        </p:spPr>
        <p:txBody>
          <a:bodyPr lIns="6840" rIns="6840" tIns="-6840" bIns="-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2038680" y="907920"/>
            <a:ext cx="6084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480" spc="-1" strike="noStrike">
                <a:solidFill>
                  <a:srgbClr val="000000"/>
                </a:solidFill>
                <a:latin typeface="STIXGeneral"/>
                <a:ea typeface="STIXGeneral"/>
              </a:rPr>
              <a:t>R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1841040" y="1016280"/>
            <a:ext cx="19584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80" spc="-1" strike="noStrike">
                <a:solidFill>
                  <a:srgbClr val="000000"/>
                </a:solidFill>
                <a:latin typeface="NimbusRoman"/>
                <a:ea typeface="NimbusRoman"/>
              </a:rPr>
              <a:t>plan on 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1761120" y="1121400"/>
            <a:ext cx="61200" cy="0"/>
          </a:xfrm>
          <a:custGeom>
            <a:avLst/>
            <a:gdLst/>
            <a:ahLst/>
            <a:rect l="0" t="0" r="r" b="b"/>
            <a:pathLst>
              <a:path fill="none" w="170" h="0">
                <a:moveTo>
                  <a:pt x="0" y="0"/>
                </a:moveTo>
                <a:lnTo>
                  <a:pt x="85" y="0"/>
                </a:lnTo>
                <a:lnTo>
                  <a:pt x="170" y="0"/>
                </a:lnTo>
              </a:path>
            </a:pathLst>
          </a:custGeom>
          <a:ln w="12600">
            <a:solidFill>
              <a:srgbClr val="17233b"/>
            </a:solidFill>
            <a:custDash>
              <a:ds d="128571" sp="128571"/>
            </a:custDash>
            <a:round/>
          </a:ln>
        </p:spPr>
        <p:txBody>
          <a:bodyPr lIns="6120" rIns="6120" tIns="-6120" bIns="-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1761480" y="1089360"/>
            <a:ext cx="60840" cy="57960"/>
          </a:xfrm>
          <a:custGeom>
            <a:avLst/>
            <a:gdLst/>
            <a:ahLst/>
            <a:rect l="0" t="0" r="r" b="b"/>
            <a:pathLst>
              <a:path w="169" h="161">
                <a:moveTo>
                  <a:pt x="85" y="0"/>
                </a:moveTo>
                <a:lnTo>
                  <a:pt x="65" y="61"/>
                </a:lnTo>
                <a:lnTo>
                  <a:pt x="0" y="61"/>
                </a:lnTo>
                <a:lnTo>
                  <a:pt x="53" y="100"/>
                </a:lnTo>
                <a:lnTo>
                  <a:pt x="32" y="161"/>
                </a:lnTo>
                <a:lnTo>
                  <a:pt x="85" y="123"/>
                </a:lnTo>
                <a:lnTo>
                  <a:pt x="137" y="161"/>
                </a:lnTo>
                <a:lnTo>
                  <a:pt x="117" y="100"/>
                </a:lnTo>
                <a:lnTo>
                  <a:pt x="169" y="61"/>
                </a:lnTo>
                <a:lnTo>
                  <a:pt x="105" y="61"/>
                </a:lnTo>
                <a:lnTo>
                  <a:pt x="85" y="0"/>
                </a:lnTo>
                <a:close/>
              </a:path>
            </a:pathLst>
          </a:custGeom>
          <a:solidFill>
            <a:srgbClr val="17233b"/>
          </a:solidFill>
          <a:ln w="12600">
            <a:solidFill>
              <a:srgbClr val="17233b"/>
            </a:solidFill>
            <a:bevel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2038680" y="992520"/>
            <a:ext cx="60840" cy="84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480" spc="-1" strike="noStrike">
                <a:solidFill>
                  <a:srgbClr val="000000"/>
                </a:solidFill>
                <a:latin typeface="STIXGeneral"/>
                <a:ea typeface="STIXGeneral"/>
              </a:rPr>
              <a:t>N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1364040" y="540360"/>
            <a:ext cx="89280" cy="84960"/>
          </a:xfrm>
          <a:custGeom>
            <a:avLst/>
            <a:gdLst/>
            <a:ahLst/>
            <a:rect l="0" t="0" r="r" b="b"/>
            <a:pathLst>
              <a:path w="248" h="236">
                <a:moveTo>
                  <a:pt x="125" y="0"/>
                </a:moveTo>
                <a:lnTo>
                  <a:pt x="95" y="91"/>
                </a:lnTo>
                <a:lnTo>
                  <a:pt x="0" y="91"/>
                </a:lnTo>
                <a:lnTo>
                  <a:pt x="77" y="146"/>
                </a:lnTo>
                <a:lnTo>
                  <a:pt x="48" y="236"/>
                </a:lnTo>
                <a:lnTo>
                  <a:pt x="125" y="180"/>
                </a:lnTo>
                <a:lnTo>
                  <a:pt x="201" y="236"/>
                </a:lnTo>
                <a:lnTo>
                  <a:pt x="172" y="146"/>
                </a:lnTo>
                <a:lnTo>
                  <a:pt x="248" y="91"/>
                </a:lnTo>
                <a:lnTo>
                  <a:pt x="154" y="91"/>
                </a:lnTo>
                <a:lnTo>
                  <a:pt x="125" y="0"/>
                </a:lnTo>
                <a:close/>
              </a:path>
            </a:pathLst>
          </a:custGeom>
          <a:solidFill>
            <a:srgbClr val="17233b"/>
          </a:solidFill>
          <a:ln w="5040">
            <a:solidFill>
              <a:srgbClr val="ffffff"/>
            </a:solidFill>
            <a:bevel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1619280" y="1076400"/>
            <a:ext cx="80640" cy="80280"/>
          </a:xfrm>
          <a:custGeom>
            <a:avLst/>
            <a:gdLst/>
            <a:ahLst/>
            <a:rect l="0" t="0" r="r" b="b"/>
            <a:pathLst>
              <a:path w="224" h="223">
                <a:moveTo>
                  <a:pt x="113" y="0"/>
                </a:moveTo>
                <a:lnTo>
                  <a:pt x="0" y="223"/>
                </a:lnTo>
                <a:lnTo>
                  <a:pt x="224" y="223"/>
                </a:lnTo>
                <a:lnTo>
                  <a:pt x="113" y="0"/>
                </a:lnTo>
                <a:close/>
              </a:path>
            </a:pathLst>
          </a:custGeom>
          <a:solidFill>
            <a:srgbClr val="0b0b0b"/>
          </a:solidFill>
          <a:ln w="12600">
            <a:solidFill>
              <a:srgbClr val="0b0b0b"/>
            </a:solidFill>
            <a:miter/>
          </a:ln>
        </p:spPr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1671840" y="383760"/>
            <a:ext cx="130320" cy="38880"/>
          </a:xfrm>
          <a:custGeom>
            <a:avLst/>
            <a:gdLst/>
            <a:ahLst/>
            <a:rect l="0" t="0" r="r" b="b"/>
            <a:pathLst>
              <a:path fill="none" w="362" h="108">
                <a:moveTo>
                  <a:pt x="362" y="108"/>
                </a:moveTo>
                <a:cubicBezTo>
                  <a:pt x="241" y="73"/>
                  <a:pt x="120" y="36"/>
                  <a:pt x="0" y="0"/>
                </a:cubicBezTo>
              </a:path>
            </a:pathLst>
          </a:custGeom>
          <a:ln cap="rnd" w="11160">
            <a:solidFill>
              <a:srgbClr val="5b9bd5"/>
            </a:solidFill>
            <a:round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1765800" y="397440"/>
            <a:ext cx="36360" cy="31680"/>
          </a:xfrm>
          <a:custGeom>
            <a:avLst/>
            <a:gdLst/>
            <a:ahLst/>
            <a:rect l="0" t="0" r="r" b="b"/>
            <a:pathLst>
              <a:path fill="none" w="101" h="88">
                <a:moveTo>
                  <a:pt x="26" y="0"/>
                </a:moveTo>
                <a:lnTo>
                  <a:pt x="101" y="70"/>
                </a:lnTo>
                <a:lnTo>
                  <a:pt x="0" y="88"/>
                </a:lnTo>
              </a:path>
            </a:pathLst>
          </a:custGeom>
          <a:ln cap="rnd" w="11160">
            <a:solidFill>
              <a:srgbClr val="5b9bd5"/>
            </a:solidFill>
            <a:round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1671840" y="377280"/>
            <a:ext cx="36000" cy="31680"/>
          </a:xfrm>
          <a:custGeom>
            <a:avLst/>
            <a:gdLst/>
            <a:ahLst/>
            <a:rect l="0" t="0" r="r" b="b"/>
            <a:pathLst>
              <a:path fill="none" w="100" h="88">
                <a:moveTo>
                  <a:pt x="74" y="88"/>
                </a:moveTo>
                <a:lnTo>
                  <a:pt x="0" y="18"/>
                </a:lnTo>
                <a:lnTo>
                  <a:pt x="100" y="0"/>
                </a:lnTo>
              </a:path>
            </a:pathLst>
          </a:custGeom>
          <a:ln cap="rnd" w="11160">
            <a:solidFill>
              <a:srgbClr val="5b9bd5"/>
            </a:solidFill>
            <a:round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1626480" y="755640"/>
            <a:ext cx="55440" cy="8280"/>
          </a:xfrm>
          <a:custGeom>
            <a:avLst/>
            <a:gdLst/>
            <a:ahLst/>
            <a:rect l="0" t="0" r="r" b="b"/>
            <a:pathLst>
              <a:path fill="none" w="154" h="23">
                <a:moveTo>
                  <a:pt x="154" y="23"/>
                </a:moveTo>
                <a:cubicBezTo>
                  <a:pt x="102" y="16"/>
                  <a:pt x="51" y="8"/>
                  <a:pt x="0" y="0"/>
                </a:cubicBezTo>
              </a:path>
            </a:pathLst>
          </a:custGeom>
          <a:ln cap="rnd" w="11160">
            <a:solidFill>
              <a:srgbClr val="8c9bab"/>
            </a:solidFill>
            <a:round/>
          </a:ln>
        </p:spPr>
        <p:txBody>
          <a:bodyPr lIns="5400" rIns="540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1647000" y="742680"/>
            <a:ext cx="34920" cy="32760"/>
          </a:xfrm>
          <a:custGeom>
            <a:avLst/>
            <a:gdLst/>
            <a:ahLst/>
            <a:rect l="0" t="0" r="r" b="b"/>
            <a:pathLst>
              <a:path fill="none" w="97" h="91">
                <a:moveTo>
                  <a:pt x="13" y="0"/>
                </a:moveTo>
                <a:lnTo>
                  <a:pt x="97" y="59"/>
                </a:lnTo>
                <a:lnTo>
                  <a:pt x="0" y="91"/>
                </a:lnTo>
              </a:path>
            </a:pathLst>
          </a:custGeom>
          <a:ln cap="rnd" w="11160">
            <a:solidFill>
              <a:srgbClr val="8c9bab"/>
            </a:solidFill>
            <a:round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1626480" y="744120"/>
            <a:ext cx="34920" cy="32400"/>
          </a:xfrm>
          <a:custGeom>
            <a:avLst/>
            <a:gdLst/>
            <a:ahLst/>
            <a:rect l="0" t="0" r="r" b="b"/>
            <a:pathLst>
              <a:path fill="none" w="97" h="90">
                <a:moveTo>
                  <a:pt x="83" y="90"/>
                </a:moveTo>
                <a:lnTo>
                  <a:pt x="0" y="33"/>
                </a:lnTo>
                <a:lnTo>
                  <a:pt x="97" y="0"/>
                </a:lnTo>
              </a:path>
            </a:pathLst>
          </a:custGeom>
          <a:ln cap="rnd" w="11160">
            <a:solidFill>
              <a:srgbClr val="8c9bab"/>
            </a:solidFill>
            <a:round/>
          </a:ln>
        </p:spPr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1841040" y="1100880"/>
            <a:ext cx="25056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80" spc="-1" strike="noStrike">
                <a:solidFill>
                  <a:srgbClr val="000000"/>
                </a:solidFill>
                <a:latin typeface="NimbusRoman"/>
                <a:ea typeface="NimbusRoman"/>
              </a:rPr>
              <a:t>pedestrian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1704960" y="386640"/>
            <a:ext cx="8748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90" spc="-1" strike="noStrike">
                <a:solidFill>
                  <a:srgbClr val="5b9bd5"/>
                </a:solidFill>
                <a:latin typeface="STIXGeneral"/>
                <a:ea typeface="STIXGeneral"/>
              </a:rPr>
              <a:t>F</a:t>
            </a:r>
            <a:endParaRPr b="0" lang="en-US" sz="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2368080" y="264960"/>
            <a:ext cx="1006560" cy="888840"/>
          </a:xfrm>
          <a:custGeom>
            <a:avLst/>
            <a:gdLst/>
            <a:ahLst/>
            <a:rect l="0" t="0" r="r" b="b"/>
            <a:pathLst>
              <a:path w="2796" h="2469">
                <a:moveTo>
                  <a:pt x="0" y="2469"/>
                </a:moveTo>
                <a:lnTo>
                  <a:pt x="2796" y="2469"/>
                </a:lnTo>
                <a:lnTo>
                  <a:pt x="2796" y="0"/>
                </a:lnTo>
                <a:lnTo>
                  <a:pt x="0" y="0"/>
                </a:lnTo>
                <a:lnTo>
                  <a:pt x="0" y="2469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2379240" y="236520"/>
            <a:ext cx="504360" cy="431640"/>
          </a:xfrm>
          <a:custGeom>
            <a:avLst/>
            <a:gdLst/>
            <a:ahLst/>
            <a:rect l="0" t="0" r="r" b="b"/>
            <a:pathLst>
              <a:path w="1401" h="1199">
                <a:moveTo>
                  <a:pt x="0" y="0"/>
                </a:moveTo>
                <a:lnTo>
                  <a:pt x="0" y="1199"/>
                </a:lnTo>
                <a:lnTo>
                  <a:pt x="1401" y="1199"/>
                </a:lnTo>
                <a:lnTo>
                  <a:pt x="1401" y="0"/>
                </a:lnTo>
                <a:lnTo>
                  <a:pt x="0" y="0"/>
                </a:lnTo>
                <a:close/>
              </a:path>
            </a:pathLst>
          </a:custGeom>
          <a:solidFill>
            <a:srgbClr val="e9f0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2883240" y="236520"/>
            <a:ext cx="457920" cy="431640"/>
          </a:xfrm>
          <a:custGeom>
            <a:avLst/>
            <a:gdLst/>
            <a:ahLst/>
            <a:rect l="0" t="0" r="r" b="b"/>
            <a:pathLst>
              <a:path w="1272" h="1199">
                <a:moveTo>
                  <a:pt x="0" y="0"/>
                </a:moveTo>
                <a:lnTo>
                  <a:pt x="0" y="1199"/>
                </a:lnTo>
                <a:lnTo>
                  <a:pt x="127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f0f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 flipV="1">
            <a:off x="2379240" y="236520"/>
            <a:ext cx="961920" cy="906840"/>
          </a:xfrm>
          <a:prstGeom prst="line">
            <a:avLst/>
          </a:prstGeom>
          <a:ln w="10080">
            <a:solidFill>
              <a:srgbClr val="6b6a62"/>
            </a:solidFill>
            <a:custDash>
              <a:ds d="3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5040" rIns="5040" tIns="5040" bIns="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2368080" y="667800"/>
            <a:ext cx="1005840" cy="0"/>
          </a:xfrm>
          <a:prstGeom prst="line">
            <a:avLst/>
          </a:prstGeom>
          <a:ln w="8640">
            <a:solidFill>
              <a:srgbClr val="9a998f"/>
            </a:solidFill>
            <a:custDash>
              <a:ds d="162500" sp="1625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2368080" y="1153440"/>
            <a:ext cx="995760" cy="0"/>
          </a:xfrm>
          <a:custGeom>
            <a:avLst/>
            <a:gdLst/>
            <a:ahLst/>
            <a:rect l="0" t="0" r="r" b="b"/>
            <a:pathLst>
              <a:path fill="none" w="2766" h="0">
                <a:moveTo>
                  <a:pt x="0" y="0"/>
                </a:moveTo>
                <a:cubicBezTo>
                  <a:pt x="931" y="0"/>
                  <a:pt x="1854" y="0"/>
                  <a:pt x="2766" y="0"/>
                </a:cubicBezTo>
              </a:path>
            </a:pathLst>
          </a:custGeom>
          <a:ln cap="rnd" w="8640">
            <a:solidFill>
              <a:srgbClr val="52514e"/>
            </a:solidFill>
            <a:round/>
          </a:ln>
        </p:spPr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3331440" y="1137240"/>
            <a:ext cx="32760" cy="32760"/>
          </a:xfrm>
          <a:custGeom>
            <a:avLst/>
            <a:gdLst/>
            <a:ahLst/>
            <a:rect l="0" t="0" r="r" b="b"/>
            <a:pathLst>
              <a:path w="91" h="91">
                <a:moveTo>
                  <a:pt x="0" y="0"/>
                </a:moveTo>
                <a:lnTo>
                  <a:pt x="91" y="46"/>
                </a:lnTo>
                <a:lnTo>
                  <a:pt x="0" y="91"/>
                </a:lnTo>
                <a:lnTo>
                  <a:pt x="0" y="0"/>
                </a:lnTo>
                <a:close/>
              </a:path>
            </a:pathLst>
          </a:custGeom>
          <a:solidFill>
            <a:srgbClr val="52514e"/>
          </a:solidFill>
          <a:ln cap="rnd" w="8640">
            <a:solidFill>
              <a:srgbClr val="52514e"/>
            </a:solidFill>
            <a:round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2368080" y="275040"/>
            <a:ext cx="0" cy="878400"/>
          </a:xfrm>
          <a:custGeom>
            <a:avLst/>
            <a:gdLst/>
            <a:ahLst/>
            <a:rect l="0" t="0" r="r" b="b"/>
            <a:pathLst>
              <a:path fill="none" w="0" h="2440">
                <a:moveTo>
                  <a:pt x="0" y="2440"/>
                </a:moveTo>
                <a:cubicBezTo>
                  <a:pt x="0" y="1617"/>
                  <a:pt x="0" y="804"/>
                  <a:pt x="0" y="0"/>
                </a:cubicBezTo>
              </a:path>
            </a:pathLst>
          </a:custGeom>
          <a:ln cap="rnd" w="8640">
            <a:solidFill>
              <a:srgbClr val="52514e"/>
            </a:solidFill>
            <a:round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2351880" y="275040"/>
            <a:ext cx="32760" cy="32760"/>
          </a:xfrm>
          <a:custGeom>
            <a:avLst/>
            <a:gdLst/>
            <a:ahLst/>
            <a:rect l="0" t="0" r="r" b="b"/>
            <a:pathLst>
              <a:path w="91" h="91">
                <a:moveTo>
                  <a:pt x="0" y="91"/>
                </a:moveTo>
                <a:lnTo>
                  <a:pt x="45" y="0"/>
                </a:lnTo>
                <a:lnTo>
                  <a:pt x="91" y="91"/>
                </a:lnTo>
                <a:lnTo>
                  <a:pt x="0" y="91"/>
                </a:lnTo>
                <a:close/>
              </a:path>
            </a:pathLst>
          </a:custGeom>
          <a:solidFill>
            <a:srgbClr val="52514e"/>
          </a:solidFill>
          <a:ln cap="rnd" w="8640">
            <a:solidFill>
              <a:srgbClr val="52514e"/>
            </a:solidFill>
            <a:round/>
          </a:ln>
        </p:spPr>
        <p:txBody>
          <a:bodyPr lIns="4320" rIns="4320" tIns="4320" bIns="43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1529280" y="641880"/>
            <a:ext cx="87480" cy="12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90" spc="-1" strike="noStrike">
                <a:solidFill>
                  <a:srgbClr val="8c9bab"/>
                </a:solidFill>
                <a:latin typeface="STIXGeneral"/>
                <a:ea typeface="STIXGeneral"/>
              </a:rPr>
              <a:t>I</a:t>
            </a:r>
            <a:endParaRPr b="0" lang="en-US" sz="69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2655360" y="1173600"/>
            <a:ext cx="7704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10" spc="-1" strike="noStrike">
                <a:solidFill>
                  <a:srgbClr val="52514e"/>
                </a:solidFill>
                <a:latin typeface="STIXGeneral"/>
                <a:ea typeface="STIXGeneral"/>
              </a:rPr>
              <a:t>I</a:t>
            </a:r>
            <a:endParaRPr b="0" lang="en-US" sz="6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2681280" y="1203480"/>
            <a:ext cx="39852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10" spc="-1" strike="noStrike">
                <a:solidFill>
                  <a:srgbClr val="52514e"/>
                </a:solidFill>
                <a:latin typeface="NimbusRoman"/>
                <a:ea typeface="NimbusRoman"/>
              </a:rPr>
              <a:t> </a:t>
            </a:r>
            <a:r>
              <a:rPr b="0" lang="en-US" sz="610" spc="-1" strike="noStrike">
                <a:solidFill>
                  <a:srgbClr val="52514e"/>
                </a:solidFill>
                <a:latin typeface="NimbusRoman"/>
                <a:ea typeface="NimbusRoman"/>
              </a:rPr>
              <a:t>(re-lighting)</a:t>
            </a:r>
            <a:endParaRPr b="0" lang="en-US" sz="6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 rot="16200000">
            <a:off x="2229840" y="839520"/>
            <a:ext cx="77040" cy="107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610" spc="-1" strike="noStrike">
                <a:solidFill>
                  <a:srgbClr val="52514e"/>
                </a:solidFill>
                <a:latin typeface="STIXGeneral"/>
                <a:ea typeface="STIXGeneral"/>
              </a:rPr>
              <a:t>F</a:t>
            </a:r>
            <a:endParaRPr b="0" lang="en-US" sz="6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 rot="16200000">
            <a:off x="2088720" y="650160"/>
            <a:ext cx="389520" cy="7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10" spc="-1" strike="noStrike">
                <a:solidFill>
                  <a:srgbClr val="52514e"/>
                </a:solidFill>
                <a:latin typeface="NimbusRoman"/>
                <a:ea typeface="NimbusRoman"/>
              </a:rPr>
              <a:t> </a:t>
            </a:r>
            <a:r>
              <a:rPr b="0" lang="en-US" sz="610" spc="-1" strike="noStrike">
                <a:solidFill>
                  <a:srgbClr val="52514e"/>
                </a:solidFill>
                <a:latin typeface="NimbusRoman"/>
                <a:ea typeface="NimbusRoman"/>
              </a:rPr>
              <a:t>(pedestrian)</a:t>
            </a:r>
            <a:endParaRPr b="0" lang="en-US" sz="61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 rot="18900000">
            <a:off x="2382480" y="809280"/>
            <a:ext cx="1242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520" spc="-1" strike="noStrike">
                <a:solidFill>
                  <a:srgbClr val="6b6a62"/>
                </a:solidFill>
                <a:latin typeface="STIXGeneral"/>
                <a:ea typeface="STIXGeneral"/>
              </a:rPr>
              <a:t>F</a:t>
            </a:r>
            <a:r>
              <a:rPr b="0" lang="en-US" sz="520" spc="-1" strike="noStrike">
                <a:solidFill>
                  <a:srgbClr val="6b6a62"/>
                </a:solidFill>
                <a:latin typeface="STIXGeneral"/>
                <a:ea typeface="STIXGeneral"/>
              </a:rPr>
              <a:t> =</a:t>
            </a:r>
            <a:r>
              <a:rPr b="0" i="1" lang="en-US" sz="520" spc="-1" strike="noStrike">
                <a:solidFill>
                  <a:srgbClr val="6b6a62"/>
                </a:solidFill>
                <a:latin typeface="STIXGeneral"/>
                <a:ea typeface="STIXGeneral"/>
              </a:rPr>
              <a:t> I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2418480" y="323640"/>
            <a:ext cx="272160" cy="6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1f4e79"/>
                </a:solidFill>
                <a:latin typeface="NimbusRoman"/>
                <a:ea typeface="NimbusRoman"/>
              </a:rPr>
              <a:t>avoidance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2418480" y="366480"/>
            <a:ext cx="6624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520" spc="-1" strike="noStrike">
                <a:solidFill>
                  <a:srgbClr val="1f4e79"/>
                </a:solidFill>
                <a:latin typeface="STIXGeneral"/>
                <a:ea typeface="STIXGeneral"/>
              </a:rPr>
              <a:t>F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2524320" y="366480"/>
            <a:ext cx="9504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1f4e79"/>
                </a:solidFill>
                <a:latin typeface="STIXGeneral"/>
                <a:ea typeface="STIXGeneral"/>
              </a:rPr>
              <a:t>0.5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2607480" y="392040"/>
            <a:ext cx="102960" cy="6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1f4e79"/>
                </a:solidFill>
                <a:latin typeface="NimbusRoman"/>
                <a:ea typeface="NimbusRoman"/>
              </a:rPr>
              <a:t> </a:t>
            </a:r>
            <a:r>
              <a:rPr b="0" lang="en-US" sz="520" spc="-1" strike="noStrike">
                <a:solidFill>
                  <a:srgbClr val="1f4e79"/>
                </a:solidFill>
                <a:latin typeface="NimbusRoman"/>
                <a:ea typeface="NimbusRoman"/>
              </a:rPr>
              <a:t>m, 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2473200" y="396720"/>
            <a:ext cx="37800" cy="47880"/>
          </a:xfrm>
          <a:custGeom>
            <a:avLst/>
            <a:gdLst/>
            <a:ahLst/>
            <a:rect l="0" t="0" r="r" b="b"/>
            <a:pathLst>
              <a:path w="105" h="133">
                <a:moveTo>
                  <a:pt x="105" y="54"/>
                </a:moveTo>
                <a:lnTo>
                  <a:pt x="0" y="105"/>
                </a:lnTo>
                <a:lnTo>
                  <a:pt x="0" y="93"/>
                </a:lnTo>
                <a:lnTo>
                  <a:pt x="81" y="53"/>
                </a:lnTo>
                <a:lnTo>
                  <a:pt x="0" y="13"/>
                </a:lnTo>
                <a:lnTo>
                  <a:pt x="0" y="0"/>
                </a:lnTo>
                <a:lnTo>
                  <a:pt x="105" y="52"/>
                </a:lnTo>
                <a:lnTo>
                  <a:pt x="105" y="54"/>
                </a:lnTo>
                <a:moveTo>
                  <a:pt x="105" y="133"/>
                </a:moveTo>
                <a:lnTo>
                  <a:pt x="0" y="133"/>
                </a:lnTo>
                <a:lnTo>
                  <a:pt x="0" y="121"/>
                </a:lnTo>
                <a:lnTo>
                  <a:pt x="105" y="121"/>
                </a:lnTo>
                <a:lnTo>
                  <a:pt x="105" y="133"/>
                </a:lnTo>
                <a:close/>
              </a:path>
            </a:pathLst>
          </a:custGeom>
          <a:solidFill>
            <a:srgbClr val="1f4e7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2709360" y="366480"/>
            <a:ext cx="12420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520" spc="-1" strike="noStrike">
                <a:solidFill>
                  <a:srgbClr val="1f4e79"/>
                </a:solidFill>
                <a:latin typeface="STIXGeneral"/>
                <a:ea typeface="STIXGeneral"/>
              </a:rPr>
              <a:t>F</a:t>
            </a:r>
            <a:r>
              <a:rPr b="0" lang="en-US" sz="520" spc="-1" strike="noStrike">
                <a:solidFill>
                  <a:srgbClr val="1f4e79"/>
                </a:solidFill>
                <a:latin typeface="STIXGeneral"/>
                <a:ea typeface="STIXGeneral"/>
              </a:rPr>
              <a:t> &gt;</a:t>
            </a:r>
            <a:r>
              <a:rPr b="0" i="1" lang="en-US" sz="520" spc="-1" strike="noStrike">
                <a:solidFill>
                  <a:srgbClr val="1f4e79"/>
                </a:solidFill>
                <a:latin typeface="STIXGeneral"/>
                <a:ea typeface="STIXGeneral"/>
              </a:rPr>
              <a:t> I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3051720" y="993600"/>
            <a:ext cx="162360" cy="673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520" spc="-1" strike="noStrike">
                <a:solidFill>
                  <a:srgbClr val="6b6a62"/>
                </a:solidFill>
                <a:latin typeface="NimbusRoman"/>
                <a:ea typeface="NimbusRoman"/>
              </a:rPr>
              <a:t>jitter: 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3213000" y="968040"/>
            <a:ext cx="6624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520" spc="-1" strike="noStrike">
                <a:solidFill>
                  <a:srgbClr val="6b6a62"/>
                </a:solidFill>
                <a:latin typeface="STIXGeneral"/>
                <a:ea typeface="STIXGeneral"/>
              </a:rPr>
              <a:t>F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3267360" y="998640"/>
            <a:ext cx="38160" cy="47520"/>
          </a:xfrm>
          <a:custGeom>
            <a:avLst/>
            <a:gdLst/>
            <a:ahLst/>
            <a:rect l="0" t="0" r="r" b="b"/>
            <a:pathLst>
              <a:path w="106" h="132">
                <a:moveTo>
                  <a:pt x="106" y="104"/>
                </a:moveTo>
                <a:lnTo>
                  <a:pt x="0" y="53"/>
                </a:lnTo>
                <a:lnTo>
                  <a:pt x="0" y="52"/>
                </a:lnTo>
                <a:lnTo>
                  <a:pt x="106" y="0"/>
                </a:lnTo>
                <a:lnTo>
                  <a:pt x="106" y="12"/>
                </a:lnTo>
                <a:lnTo>
                  <a:pt x="26" y="52"/>
                </a:lnTo>
                <a:lnTo>
                  <a:pt x="106" y="92"/>
                </a:lnTo>
                <a:lnTo>
                  <a:pt x="106" y="104"/>
                </a:lnTo>
                <a:moveTo>
                  <a:pt x="106" y="132"/>
                </a:moveTo>
                <a:lnTo>
                  <a:pt x="0" y="132"/>
                </a:lnTo>
                <a:lnTo>
                  <a:pt x="0" y="120"/>
                </a:lnTo>
                <a:lnTo>
                  <a:pt x="106" y="120"/>
                </a:lnTo>
                <a:lnTo>
                  <a:pt x="106" y="132"/>
                </a:lnTo>
                <a:close/>
              </a:path>
            </a:pathLst>
          </a:custGeom>
          <a:solidFill>
            <a:srgbClr val="6b6a6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3318840" y="968040"/>
            <a:ext cx="6624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i="1" lang="en-US" sz="520" spc="-1" strike="noStrike">
                <a:solidFill>
                  <a:srgbClr val="6b6a62"/>
                </a:solidFill>
                <a:latin typeface="STIXGeneral"/>
                <a:ea typeface="STIXGeneral"/>
              </a:rPr>
              <a:t>I</a:t>
            </a:r>
            <a:endParaRPr b="0" lang="en-US" sz="5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3113640" y="584640"/>
            <a:ext cx="22932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80" spc="-1" strike="noStrike">
                <a:solidFill>
                  <a:srgbClr val="6b6a62"/>
                </a:solidFill>
                <a:latin typeface="NimbusRoman"/>
                <a:ea typeface="NimbusRoman"/>
              </a:rPr>
              <a:t>one point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3096720" y="654120"/>
            <a:ext cx="246240" cy="6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480" spc="-1" strike="noStrike">
                <a:solidFill>
                  <a:srgbClr val="6b6a62"/>
                </a:solidFill>
                <a:latin typeface="NimbusRoman"/>
                <a:ea typeface="NimbusRoman"/>
              </a:rPr>
              <a:t>per policy</a:t>
            </a:r>
            <a:endParaRPr b="0" lang="en-US" sz="48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2843640" y="747000"/>
            <a:ext cx="61560" cy="61560"/>
          </a:xfrm>
          <a:custGeom>
            <a:avLst/>
            <a:gdLst/>
            <a:ahLst/>
            <a:rect l="0" t="0" r="r" b="b"/>
            <a:pathLst>
              <a:path w="171" h="171">
                <a:moveTo>
                  <a:pt x="86" y="171"/>
                </a:moveTo>
                <a:cubicBezTo>
                  <a:pt x="108" y="171"/>
                  <a:pt x="130" y="162"/>
                  <a:pt x="146" y="146"/>
                </a:cubicBezTo>
                <a:cubicBezTo>
                  <a:pt x="162" y="130"/>
                  <a:pt x="171" y="109"/>
                  <a:pt x="171" y="86"/>
                </a:cubicBezTo>
                <a:cubicBezTo>
                  <a:pt x="171" y="64"/>
                  <a:pt x="162" y="41"/>
                  <a:pt x="146" y="25"/>
                </a:cubicBezTo>
                <a:cubicBezTo>
                  <a:pt x="130" y="9"/>
                  <a:pt x="108" y="0"/>
                  <a:pt x="86" y="0"/>
                </a:cubicBezTo>
                <a:cubicBezTo>
                  <a:pt x="63" y="0"/>
                  <a:pt x="42" y="9"/>
                  <a:pt x="26" y="25"/>
                </a:cubicBezTo>
                <a:cubicBezTo>
                  <a:pt x="10" y="41"/>
                  <a:pt x="0" y="64"/>
                  <a:pt x="0" y="86"/>
                </a:cubicBezTo>
                <a:cubicBezTo>
                  <a:pt x="0" y="109"/>
                  <a:pt x="10" y="130"/>
                  <a:pt x="26" y="146"/>
                </a:cubicBezTo>
                <a:cubicBezTo>
                  <a:pt x="42" y="162"/>
                  <a:pt x="63" y="171"/>
                  <a:pt x="86" y="171"/>
                </a:cubicBezTo>
                <a:close/>
              </a:path>
            </a:pathLst>
          </a:custGeom>
          <a:solidFill>
            <a:srgbClr val="b8c2cc"/>
          </a:solidFill>
          <a:ln w="7560">
            <a:solidFill>
              <a:srgbClr val="ffffff"/>
            </a:solidFill>
            <a:round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2801520" y="863640"/>
            <a:ext cx="61560" cy="61560"/>
          </a:xfrm>
          <a:custGeom>
            <a:avLst/>
            <a:gdLst/>
            <a:ahLst/>
            <a:rect l="0" t="0" r="r" b="b"/>
            <a:pathLst>
              <a:path w="171" h="171">
                <a:moveTo>
                  <a:pt x="85" y="171"/>
                </a:moveTo>
                <a:cubicBezTo>
                  <a:pt x="107" y="171"/>
                  <a:pt x="130" y="162"/>
                  <a:pt x="146" y="146"/>
                </a:cubicBezTo>
                <a:cubicBezTo>
                  <a:pt x="162" y="130"/>
                  <a:pt x="171" y="109"/>
                  <a:pt x="171" y="86"/>
                </a:cubicBezTo>
                <a:cubicBezTo>
                  <a:pt x="171" y="62"/>
                  <a:pt x="162" y="41"/>
                  <a:pt x="146" y="25"/>
                </a:cubicBezTo>
                <a:cubicBezTo>
                  <a:pt x="130" y="9"/>
                  <a:pt x="107" y="0"/>
                  <a:pt x="85" y="0"/>
                </a:cubicBezTo>
                <a:cubicBezTo>
                  <a:pt x="62" y="0"/>
                  <a:pt x="41" y="9"/>
                  <a:pt x="25" y="25"/>
                </a:cubicBezTo>
                <a:cubicBezTo>
                  <a:pt x="9" y="41"/>
                  <a:pt x="0" y="62"/>
                  <a:pt x="0" y="86"/>
                </a:cubicBezTo>
                <a:cubicBezTo>
                  <a:pt x="0" y="109"/>
                  <a:pt x="9" y="130"/>
                  <a:pt x="25" y="146"/>
                </a:cubicBezTo>
                <a:cubicBezTo>
                  <a:pt x="41" y="162"/>
                  <a:pt x="62" y="171"/>
                  <a:pt x="85" y="171"/>
                </a:cubicBezTo>
                <a:close/>
              </a:path>
            </a:pathLst>
          </a:custGeom>
          <a:solidFill>
            <a:srgbClr val="8fa3b8"/>
          </a:solidFill>
          <a:ln w="7560">
            <a:solidFill>
              <a:srgbClr val="ffffff"/>
            </a:solidFill>
            <a:round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2862720" y="722520"/>
            <a:ext cx="61920" cy="61560"/>
          </a:xfrm>
          <a:custGeom>
            <a:avLst/>
            <a:gdLst/>
            <a:ahLst/>
            <a:rect l="0" t="0" r="r" b="b"/>
            <a:pathLst>
              <a:path w="172" h="171">
                <a:moveTo>
                  <a:pt x="86" y="171"/>
                </a:moveTo>
                <a:cubicBezTo>
                  <a:pt x="108" y="171"/>
                  <a:pt x="131" y="162"/>
                  <a:pt x="147" y="147"/>
                </a:cubicBezTo>
                <a:cubicBezTo>
                  <a:pt x="163" y="131"/>
                  <a:pt x="172" y="108"/>
                  <a:pt x="172" y="85"/>
                </a:cubicBezTo>
                <a:cubicBezTo>
                  <a:pt x="172" y="63"/>
                  <a:pt x="163" y="41"/>
                  <a:pt x="147" y="25"/>
                </a:cubicBezTo>
                <a:cubicBezTo>
                  <a:pt x="131" y="9"/>
                  <a:pt x="108" y="0"/>
                  <a:pt x="86" y="0"/>
                </a:cubicBezTo>
                <a:cubicBezTo>
                  <a:pt x="63" y="0"/>
                  <a:pt x="41" y="9"/>
                  <a:pt x="25" y="25"/>
                </a:cubicBezTo>
                <a:cubicBezTo>
                  <a:pt x="9" y="41"/>
                  <a:pt x="0" y="63"/>
                  <a:pt x="0" y="85"/>
                </a:cubicBezTo>
                <a:cubicBezTo>
                  <a:pt x="0" y="108"/>
                  <a:pt x="9" y="131"/>
                  <a:pt x="25" y="147"/>
                </a:cubicBezTo>
                <a:cubicBezTo>
                  <a:pt x="41" y="162"/>
                  <a:pt x="63" y="171"/>
                  <a:pt x="86" y="171"/>
                </a:cubicBezTo>
                <a:close/>
              </a:path>
            </a:pathLst>
          </a:custGeom>
          <a:solidFill>
            <a:srgbClr val="5b9bd5"/>
          </a:solidFill>
          <a:ln w="7560">
            <a:solidFill>
              <a:srgbClr val="ffffff"/>
            </a:solidFill>
            <a:round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3003840" y="649080"/>
            <a:ext cx="61560" cy="61920"/>
          </a:xfrm>
          <a:custGeom>
            <a:avLst/>
            <a:gdLst/>
            <a:ahLst/>
            <a:rect l="0" t="0" r="r" b="b"/>
            <a:pathLst>
              <a:path w="171" h="172">
                <a:moveTo>
                  <a:pt x="86" y="172"/>
                </a:moveTo>
                <a:cubicBezTo>
                  <a:pt x="109" y="172"/>
                  <a:pt x="130" y="163"/>
                  <a:pt x="146" y="146"/>
                </a:cubicBezTo>
                <a:cubicBezTo>
                  <a:pt x="162" y="130"/>
                  <a:pt x="171" y="108"/>
                  <a:pt x="171" y="85"/>
                </a:cubicBezTo>
                <a:cubicBezTo>
                  <a:pt x="171" y="63"/>
                  <a:pt x="162" y="41"/>
                  <a:pt x="146" y="25"/>
                </a:cubicBezTo>
                <a:cubicBezTo>
                  <a:pt x="130" y="9"/>
                  <a:pt x="109" y="0"/>
                  <a:pt x="86" y="0"/>
                </a:cubicBezTo>
                <a:cubicBezTo>
                  <a:pt x="62" y="0"/>
                  <a:pt x="41" y="9"/>
                  <a:pt x="25" y="25"/>
                </a:cubicBezTo>
                <a:cubicBezTo>
                  <a:pt x="9" y="41"/>
                  <a:pt x="0" y="63"/>
                  <a:pt x="0" y="85"/>
                </a:cubicBezTo>
                <a:cubicBezTo>
                  <a:pt x="0" y="108"/>
                  <a:pt x="9" y="130"/>
                  <a:pt x="25" y="146"/>
                </a:cubicBezTo>
                <a:cubicBezTo>
                  <a:pt x="41" y="163"/>
                  <a:pt x="62" y="172"/>
                  <a:pt x="86" y="172"/>
                </a:cubicBezTo>
                <a:close/>
              </a:path>
            </a:pathLst>
          </a:custGeom>
          <a:solidFill>
            <a:srgbClr val="2e75b6"/>
          </a:solidFill>
          <a:ln w="7560">
            <a:solidFill>
              <a:srgbClr val="ffffff"/>
            </a:solidFill>
            <a:round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2787840" y="828720"/>
            <a:ext cx="61560" cy="61560"/>
          </a:xfrm>
          <a:custGeom>
            <a:avLst/>
            <a:gdLst/>
            <a:ahLst/>
            <a:rect l="0" t="0" r="r" b="b"/>
            <a:pathLst>
              <a:path w="171" h="171">
                <a:moveTo>
                  <a:pt x="85" y="171"/>
                </a:moveTo>
                <a:cubicBezTo>
                  <a:pt x="107" y="171"/>
                  <a:pt x="129" y="161"/>
                  <a:pt x="145" y="145"/>
                </a:cubicBezTo>
                <a:cubicBezTo>
                  <a:pt x="162" y="129"/>
                  <a:pt x="171" y="108"/>
                  <a:pt x="171" y="85"/>
                </a:cubicBezTo>
                <a:cubicBezTo>
                  <a:pt x="171" y="63"/>
                  <a:pt x="162" y="41"/>
                  <a:pt x="145" y="25"/>
                </a:cubicBezTo>
                <a:cubicBezTo>
                  <a:pt x="129" y="9"/>
                  <a:pt x="107" y="0"/>
                  <a:pt x="85" y="0"/>
                </a:cubicBezTo>
                <a:cubicBezTo>
                  <a:pt x="62" y="0"/>
                  <a:pt x="41" y="9"/>
                  <a:pt x="25" y="25"/>
                </a:cubicBezTo>
                <a:cubicBezTo>
                  <a:pt x="9" y="41"/>
                  <a:pt x="0" y="63"/>
                  <a:pt x="0" y="85"/>
                </a:cubicBezTo>
                <a:cubicBezTo>
                  <a:pt x="0" y="108"/>
                  <a:pt x="9" y="129"/>
                  <a:pt x="25" y="145"/>
                </a:cubicBezTo>
                <a:cubicBezTo>
                  <a:pt x="41" y="161"/>
                  <a:pt x="62" y="171"/>
                  <a:pt x="85" y="171"/>
                </a:cubicBezTo>
                <a:close/>
              </a:path>
            </a:pathLst>
          </a:custGeom>
          <a:solidFill>
            <a:srgbClr val="1f3f6e"/>
          </a:solidFill>
          <a:ln w="7560">
            <a:solidFill>
              <a:srgbClr val="ffffff"/>
            </a:solidFill>
            <a:round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2722680" y="932400"/>
            <a:ext cx="61560" cy="61560"/>
          </a:xfrm>
          <a:custGeom>
            <a:avLst/>
            <a:gdLst/>
            <a:ahLst/>
            <a:rect l="0" t="0" r="r" b="b"/>
            <a:pathLst>
              <a:path w="171" h="171">
                <a:moveTo>
                  <a:pt x="86" y="171"/>
                </a:moveTo>
                <a:cubicBezTo>
                  <a:pt x="109" y="171"/>
                  <a:pt x="131" y="162"/>
                  <a:pt x="147" y="146"/>
                </a:cubicBezTo>
                <a:cubicBezTo>
                  <a:pt x="163" y="131"/>
                  <a:pt x="171" y="109"/>
                  <a:pt x="171" y="86"/>
                </a:cubicBezTo>
                <a:cubicBezTo>
                  <a:pt x="171" y="64"/>
                  <a:pt x="163" y="41"/>
                  <a:pt x="147" y="25"/>
                </a:cubicBezTo>
                <a:cubicBezTo>
                  <a:pt x="131" y="9"/>
                  <a:pt x="109" y="0"/>
                  <a:pt x="86" y="0"/>
                </a:cubicBezTo>
                <a:cubicBezTo>
                  <a:pt x="64" y="0"/>
                  <a:pt x="42" y="9"/>
                  <a:pt x="26" y="25"/>
                </a:cubicBezTo>
                <a:cubicBezTo>
                  <a:pt x="10" y="41"/>
                  <a:pt x="0" y="64"/>
                  <a:pt x="0" y="86"/>
                </a:cubicBezTo>
                <a:cubicBezTo>
                  <a:pt x="0" y="109"/>
                  <a:pt x="10" y="131"/>
                  <a:pt x="26" y="146"/>
                </a:cubicBezTo>
                <a:cubicBezTo>
                  <a:pt x="42" y="162"/>
                  <a:pt x="64" y="171"/>
                  <a:pt x="86" y="171"/>
                </a:cubicBezTo>
                <a:close/>
              </a:path>
            </a:pathLst>
          </a:custGeom>
          <a:solidFill>
            <a:srgbClr val="0b0b14"/>
          </a:solidFill>
          <a:ln w="7560">
            <a:solidFill>
              <a:srgbClr val="ffffff"/>
            </a:solidFill>
            <a:round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2368440" y="192240"/>
            <a:ext cx="523440" cy="7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noAutofit/>
          </a:bodyPr>
          <a:p>
            <a:r>
              <a:rPr b="0" lang="en-US" sz="620" spc="-1" strike="noStrike">
                <a:solidFill>
                  <a:srgbClr val="000000"/>
                </a:solidFill>
                <a:latin typeface="NimbusRoman"/>
                <a:ea typeface="NimbusRoman"/>
              </a:rPr>
              <a:t>the two readings</a:t>
            </a:r>
            <a:endParaRPr b="0" lang="en-US" sz="62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